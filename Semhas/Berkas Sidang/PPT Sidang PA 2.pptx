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Dynapuff Condensed" charset="1" panose="00000000000000000000"/>
      <p:regular r:id="rId24"/>
    </p:embeddedFont>
    <p:embeddedFont>
      <p:font typeface="Dynapuff Condensed Bold" charset="1" panose="00000000000000000000"/>
      <p:regular r:id="rId25"/>
    </p:embeddedFont>
    <p:embeddedFont>
      <p:font typeface="Dynapuff SemiCondensed"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2.png" Type="http://schemas.openxmlformats.org/officeDocument/2006/relationships/image"/><Relationship Id="rId5" Target="../embeddings/oleObject1.bin" Type="http://schemas.openxmlformats.org/officeDocument/2006/relationships/oleObjec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embeddings/oleObject2.bin" Type="http://schemas.openxmlformats.org/officeDocument/2006/relationships/oleObject"/><Relationship Id="rId6" Target="../media/image14.png" Type="http://schemas.openxmlformats.org/officeDocument/2006/relationships/image"/><Relationship Id="rId7" Target="../embeddings/oleObject3.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664261" y="6677503"/>
            <a:ext cx="6103108" cy="4114800"/>
          </a:xfrm>
          <a:custGeom>
            <a:avLst/>
            <a:gdLst/>
            <a:ahLst/>
            <a:cxnLst/>
            <a:rect r="r" b="b" t="t" l="l"/>
            <a:pathLst>
              <a:path h="4114800" w="6103108">
                <a:moveTo>
                  <a:pt x="0" y="0"/>
                </a:moveTo>
                <a:lnTo>
                  <a:pt x="6103109" y="0"/>
                </a:lnTo>
                <a:lnTo>
                  <a:pt x="610310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184892" y="-10287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013428" y="3767137"/>
            <a:ext cx="8261144" cy="714375"/>
          </a:xfrm>
          <a:prstGeom prst="rect">
            <a:avLst/>
          </a:prstGeom>
        </p:spPr>
        <p:txBody>
          <a:bodyPr anchor="t" rtlCol="false" tIns="0" lIns="0" bIns="0" rIns="0">
            <a:spAutoFit/>
          </a:bodyPr>
          <a:lstStyle/>
          <a:p>
            <a:pPr algn="ctr" marL="0" indent="0" lvl="0">
              <a:lnSpc>
                <a:spcPts val="5999"/>
              </a:lnSpc>
              <a:spcBef>
                <a:spcPct val="0"/>
              </a:spcBef>
            </a:pPr>
            <a:r>
              <a:rPr lang="en-US" sz="3999" spc="119">
                <a:solidFill>
                  <a:srgbClr val="3F3E3A"/>
                </a:solidFill>
                <a:latin typeface="Dynapuff Condensed"/>
                <a:ea typeface="Dynapuff Condensed"/>
                <a:cs typeface="Dynapuff Condensed"/>
                <a:sym typeface="Dynapuff Condensed"/>
              </a:rPr>
              <a:t>Dicky Syarif Renaldi - 3322600009</a:t>
            </a:r>
          </a:p>
        </p:txBody>
      </p:sp>
      <p:sp>
        <p:nvSpPr>
          <p:cNvPr name="Freeform 5" id="5"/>
          <p:cNvSpPr/>
          <p:nvPr/>
        </p:nvSpPr>
        <p:spPr>
          <a:xfrm flipH="false" flipV="false" rot="0">
            <a:off x="15236446" y="-4550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530206" y="495300"/>
            <a:ext cx="11227589" cy="3057525"/>
          </a:xfrm>
          <a:prstGeom prst="rect">
            <a:avLst/>
          </a:prstGeom>
        </p:spPr>
        <p:txBody>
          <a:bodyPr anchor="t" rtlCol="false" tIns="0" lIns="0" bIns="0" rIns="0">
            <a:spAutoFit/>
          </a:bodyPr>
          <a:lstStyle/>
          <a:p>
            <a:pPr algn="ctr" marL="0" indent="0" lvl="0">
              <a:lnSpc>
                <a:spcPts val="6000"/>
              </a:lnSpc>
              <a:spcBef>
                <a:spcPct val="0"/>
              </a:spcBef>
            </a:pPr>
            <a:r>
              <a:rPr lang="en-US" sz="5000" spc="150">
                <a:solidFill>
                  <a:srgbClr val="000000"/>
                </a:solidFill>
                <a:latin typeface="Dynapuff Condensed"/>
                <a:ea typeface="Dynapuff Condensed"/>
                <a:cs typeface="Dynapuff Condensed"/>
                <a:sym typeface="Dynapuff Condensed"/>
              </a:rPr>
              <a:t>SENTIMEN ANALISIS BERBASIS ASPEK PADA PERUMDA AIR MINUM SURYA SEMBADA SURABAYA MENGGUNAKAN KOMPUTASI KORELASI</a:t>
            </a:r>
          </a:p>
        </p:txBody>
      </p:sp>
      <p:sp>
        <p:nvSpPr>
          <p:cNvPr name="Freeform 7" id="7"/>
          <p:cNvSpPr/>
          <p:nvPr/>
        </p:nvSpPr>
        <p:spPr>
          <a:xfrm flipH="false" flipV="true" rot="0">
            <a:off x="0" y="0"/>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14418111" y="6172200"/>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7470953" y="4471988"/>
            <a:ext cx="3346093" cy="714375"/>
          </a:xfrm>
          <a:prstGeom prst="rect">
            <a:avLst/>
          </a:prstGeom>
        </p:spPr>
        <p:txBody>
          <a:bodyPr anchor="t" rtlCol="false" tIns="0" lIns="0" bIns="0" rIns="0">
            <a:spAutoFit/>
          </a:bodyPr>
          <a:lstStyle/>
          <a:p>
            <a:pPr algn="ctr" marL="0" indent="0" lvl="0">
              <a:lnSpc>
                <a:spcPts val="5999"/>
              </a:lnSpc>
              <a:spcBef>
                <a:spcPct val="0"/>
              </a:spcBef>
            </a:pPr>
            <a:r>
              <a:rPr lang="en-US" b="true" sz="3999" spc="119">
                <a:solidFill>
                  <a:srgbClr val="3F3E3A"/>
                </a:solidFill>
                <a:latin typeface="Dynapuff Condensed Bold"/>
                <a:ea typeface="Dynapuff Condensed Bold"/>
                <a:cs typeface="Dynapuff Condensed Bold"/>
                <a:sym typeface="Dynapuff Condensed Bold"/>
              </a:rPr>
              <a:t>ADVISORS</a:t>
            </a:r>
          </a:p>
        </p:txBody>
      </p:sp>
      <p:sp>
        <p:nvSpPr>
          <p:cNvPr name="TextBox 10" id="10"/>
          <p:cNvSpPr txBox="true"/>
          <p:nvPr/>
        </p:nvSpPr>
        <p:spPr>
          <a:xfrm rot="0">
            <a:off x="1028700" y="5548313"/>
            <a:ext cx="7248812" cy="1466850"/>
          </a:xfrm>
          <a:prstGeom prst="rect">
            <a:avLst/>
          </a:prstGeom>
        </p:spPr>
        <p:txBody>
          <a:bodyPr anchor="t" rtlCol="false" tIns="0" lIns="0" bIns="0" rIns="0">
            <a:spAutoFit/>
          </a:bodyPr>
          <a:lstStyle/>
          <a:p>
            <a:pPr algn="ctr">
              <a:lnSpc>
                <a:spcPts val="5999"/>
              </a:lnSpc>
            </a:pPr>
            <a:r>
              <a:rPr lang="en-US" sz="3999" spc="119">
                <a:solidFill>
                  <a:srgbClr val="3F3E3A"/>
                </a:solidFill>
                <a:latin typeface="Dynapuff Condensed"/>
                <a:ea typeface="Dynapuff Condensed"/>
                <a:cs typeface="Dynapuff Condensed"/>
                <a:sym typeface="Dynapuff Condensed"/>
              </a:rPr>
              <a:t>Entin Martiana K, S.Kom., M.Kom.</a:t>
            </a:r>
          </a:p>
          <a:p>
            <a:pPr algn="ctr" marL="0" indent="0" lvl="0">
              <a:lnSpc>
                <a:spcPts val="5999"/>
              </a:lnSpc>
              <a:spcBef>
                <a:spcPct val="0"/>
              </a:spcBef>
            </a:pPr>
            <a:r>
              <a:rPr lang="en-US" sz="3999" spc="119">
                <a:solidFill>
                  <a:srgbClr val="3F3E3A"/>
                </a:solidFill>
                <a:latin typeface="Dynapuff Condensed"/>
                <a:ea typeface="Dynapuff Condensed"/>
                <a:cs typeface="Dynapuff Condensed"/>
                <a:sym typeface="Dynapuff Condensed"/>
              </a:rPr>
              <a:t>NIP. 197505302003121001</a:t>
            </a:r>
          </a:p>
        </p:txBody>
      </p:sp>
      <p:sp>
        <p:nvSpPr>
          <p:cNvPr name="TextBox 11" id="11"/>
          <p:cNvSpPr txBox="true"/>
          <p:nvPr/>
        </p:nvSpPr>
        <p:spPr>
          <a:xfrm rot="0">
            <a:off x="2471594" y="7472601"/>
            <a:ext cx="13344812" cy="2219325"/>
          </a:xfrm>
          <a:prstGeom prst="rect">
            <a:avLst/>
          </a:prstGeom>
        </p:spPr>
        <p:txBody>
          <a:bodyPr anchor="t" rtlCol="false" tIns="0" lIns="0" bIns="0" rIns="0">
            <a:spAutoFit/>
          </a:bodyPr>
          <a:lstStyle/>
          <a:p>
            <a:pPr algn="ctr">
              <a:lnSpc>
                <a:spcPts val="5999"/>
              </a:lnSpc>
            </a:pPr>
            <a:r>
              <a:rPr lang="en-US" sz="3999" spc="119">
                <a:solidFill>
                  <a:srgbClr val="3F3E3A"/>
                </a:solidFill>
                <a:latin typeface="Dynapuff Condensed"/>
                <a:ea typeface="Dynapuff Condensed"/>
                <a:cs typeface="Dynapuff Condensed"/>
                <a:sym typeface="Dynapuff Condensed"/>
              </a:rPr>
              <a:t>DEPARTMENT OF INFORMATICS AND COMPUTER</a:t>
            </a:r>
          </a:p>
          <a:p>
            <a:pPr algn="ctr">
              <a:lnSpc>
                <a:spcPts val="5999"/>
              </a:lnSpc>
            </a:pPr>
            <a:r>
              <a:rPr lang="en-US" sz="3999" spc="119">
                <a:solidFill>
                  <a:srgbClr val="3F3E3A"/>
                </a:solidFill>
                <a:latin typeface="Dynapuff Condensed"/>
                <a:ea typeface="Dynapuff Condensed"/>
                <a:cs typeface="Dynapuff Condensed"/>
                <a:sym typeface="Dynapuff Condensed"/>
              </a:rPr>
              <a:t>ELECTIONIC ENGINEERING POLYTECHNIC INSTITUTE OF SURABAYA</a:t>
            </a:r>
          </a:p>
          <a:p>
            <a:pPr algn="ctr" marL="0" indent="0" lvl="0">
              <a:lnSpc>
                <a:spcPts val="5999"/>
              </a:lnSpc>
              <a:spcBef>
                <a:spcPct val="0"/>
              </a:spcBef>
            </a:pPr>
            <a:r>
              <a:rPr lang="en-US" sz="3999" spc="119">
                <a:solidFill>
                  <a:srgbClr val="3F3E3A"/>
                </a:solidFill>
                <a:latin typeface="Dynapuff Condensed"/>
                <a:ea typeface="Dynapuff Condensed"/>
                <a:cs typeface="Dynapuff Condensed"/>
                <a:sym typeface="Dynapuff Condensed"/>
              </a:rPr>
              <a:t>2026</a:t>
            </a:r>
          </a:p>
        </p:txBody>
      </p:sp>
      <p:sp>
        <p:nvSpPr>
          <p:cNvPr name="TextBox 12" id="12"/>
          <p:cNvSpPr txBox="true"/>
          <p:nvPr/>
        </p:nvSpPr>
        <p:spPr>
          <a:xfrm rot="0">
            <a:off x="10142531" y="5548313"/>
            <a:ext cx="7116769" cy="1466850"/>
          </a:xfrm>
          <a:prstGeom prst="rect">
            <a:avLst/>
          </a:prstGeom>
        </p:spPr>
        <p:txBody>
          <a:bodyPr anchor="t" rtlCol="false" tIns="0" lIns="0" bIns="0" rIns="0">
            <a:spAutoFit/>
          </a:bodyPr>
          <a:lstStyle/>
          <a:p>
            <a:pPr algn="ctr">
              <a:lnSpc>
                <a:spcPts val="5999"/>
              </a:lnSpc>
            </a:pPr>
            <a:r>
              <a:rPr lang="en-US" sz="3999" spc="119">
                <a:solidFill>
                  <a:srgbClr val="3F3E3A"/>
                </a:solidFill>
                <a:latin typeface="Dynapuff Condensed"/>
                <a:ea typeface="Dynapuff Condensed"/>
                <a:cs typeface="Dynapuff Condensed"/>
                <a:sym typeface="Dynapuff Condensed"/>
              </a:rPr>
              <a:t>Aliridho Barakbah S.Kom, Ph.D</a:t>
            </a:r>
          </a:p>
          <a:p>
            <a:pPr algn="ctr" marL="0" indent="0" lvl="0">
              <a:lnSpc>
                <a:spcPts val="5999"/>
              </a:lnSpc>
              <a:spcBef>
                <a:spcPct val="0"/>
              </a:spcBef>
            </a:pPr>
            <a:r>
              <a:rPr lang="en-US" sz="3999" spc="119">
                <a:solidFill>
                  <a:srgbClr val="3F3E3A"/>
                </a:solidFill>
                <a:latin typeface="Dynapuff Condensed"/>
                <a:ea typeface="Dynapuff Condensed"/>
                <a:cs typeface="Dynapuff Condensed"/>
                <a:sym typeface="Dynapuff Condensed"/>
              </a:rPr>
              <a:t>NIP. 197308162001121001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4302728" y="3093960"/>
            <a:ext cx="898554" cy="895287"/>
          </a:xfrm>
          <a:custGeom>
            <a:avLst/>
            <a:gdLst/>
            <a:ahLst/>
            <a:cxnLst/>
            <a:rect r="r" b="b" t="t" l="l"/>
            <a:pathLst>
              <a:path h="895287" w="898554">
                <a:moveTo>
                  <a:pt x="0" y="0"/>
                </a:moveTo>
                <a:lnTo>
                  <a:pt x="898554" y="0"/>
                </a:lnTo>
                <a:lnTo>
                  <a:pt x="898554" y="895287"/>
                </a:lnTo>
                <a:lnTo>
                  <a:pt x="0" y="8952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61724" y="3074910"/>
            <a:ext cx="898554" cy="895287"/>
          </a:xfrm>
          <a:custGeom>
            <a:avLst/>
            <a:gdLst/>
            <a:ahLst/>
            <a:cxnLst/>
            <a:rect r="r" b="b" t="t" l="l"/>
            <a:pathLst>
              <a:path h="895287" w="898554">
                <a:moveTo>
                  <a:pt x="0" y="0"/>
                </a:moveTo>
                <a:lnTo>
                  <a:pt x="898554" y="0"/>
                </a:lnTo>
                <a:lnTo>
                  <a:pt x="898554" y="895287"/>
                </a:lnTo>
                <a:lnTo>
                  <a:pt x="0" y="8952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086718" y="3093960"/>
            <a:ext cx="898554" cy="895287"/>
          </a:xfrm>
          <a:custGeom>
            <a:avLst/>
            <a:gdLst/>
            <a:ahLst/>
            <a:cxnLst/>
            <a:rect r="r" b="b" t="t" l="l"/>
            <a:pathLst>
              <a:path h="895287" w="898554">
                <a:moveTo>
                  <a:pt x="0" y="0"/>
                </a:moveTo>
                <a:lnTo>
                  <a:pt x="898554" y="0"/>
                </a:lnTo>
                <a:lnTo>
                  <a:pt x="898554" y="895287"/>
                </a:lnTo>
                <a:lnTo>
                  <a:pt x="0" y="8952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flipV="true">
            <a:off x="5201282" y="3522554"/>
            <a:ext cx="3760442" cy="19050"/>
          </a:xfrm>
          <a:prstGeom prst="line">
            <a:avLst/>
          </a:prstGeom>
          <a:ln cap="flat" w="38100">
            <a:solidFill>
              <a:srgbClr val="000000"/>
            </a:solidFill>
            <a:prstDash val="solid"/>
            <a:headEnd type="none" len="sm" w="sm"/>
            <a:tailEnd type="none" len="sm" w="sm"/>
          </a:ln>
        </p:spPr>
      </p:sp>
      <p:sp>
        <p:nvSpPr>
          <p:cNvPr name="AutoShape 6" id="6"/>
          <p:cNvSpPr/>
          <p:nvPr/>
        </p:nvSpPr>
        <p:spPr>
          <a:xfrm>
            <a:off x="9860278" y="3524882"/>
            <a:ext cx="3226440" cy="16722"/>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6180962" y="1720805"/>
            <a:ext cx="5926076" cy="953168"/>
          </a:xfrm>
          <a:prstGeom prst="rect">
            <a:avLst/>
          </a:prstGeom>
        </p:spPr>
        <p:txBody>
          <a:bodyPr anchor="t" rtlCol="false" tIns="0" lIns="0" bIns="0" rIns="0">
            <a:spAutoFit/>
          </a:bodyPr>
          <a:lstStyle/>
          <a:p>
            <a:pPr algn="ctr" marL="0" indent="0" lvl="0">
              <a:lnSpc>
                <a:spcPts val="7437"/>
              </a:lnSpc>
              <a:spcBef>
                <a:spcPct val="0"/>
              </a:spcBef>
            </a:pPr>
            <a:r>
              <a:rPr lang="en-US" b="true" sz="6197">
                <a:solidFill>
                  <a:srgbClr val="000000"/>
                </a:solidFill>
                <a:latin typeface="Dynapuff Condensed Bold"/>
                <a:ea typeface="Dynapuff Condensed Bold"/>
                <a:cs typeface="Dynapuff Condensed Bold"/>
                <a:sym typeface="Dynapuff Condensed Bold"/>
              </a:rPr>
              <a:t>OBJECTIVES</a:t>
            </a:r>
          </a:p>
        </p:txBody>
      </p:sp>
      <p:sp>
        <p:nvSpPr>
          <p:cNvPr name="Freeform 8" id="8"/>
          <p:cNvSpPr/>
          <p:nvPr/>
        </p:nvSpPr>
        <p:spPr>
          <a:xfrm flipH="false" flipV="false" rot="1175679">
            <a:off x="11781271" y="4628293"/>
            <a:ext cx="4408001" cy="4206041"/>
          </a:xfrm>
          <a:custGeom>
            <a:avLst/>
            <a:gdLst/>
            <a:ahLst/>
            <a:cxnLst/>
            <a:rect r="r" b="b" t="t" l="l"/>
            <a:pathLst>
              <a:path h="4206041" w="4408001">
                <a:moveTo>
                  <a:pt x="0" y="0"/>
                </a:moveTo>
                <a:lnTo>
                  <a:pt x="4408002" y="0"/>
                </a:lnTo>
                <a:lnTo>
                  <a:pt x="4408002" y="4206041"/>
                </a:lnTo>
                <a:lnTo>
                  <a:pt x="0" y="42060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175679">
            <a:off x="6939999" y="4628293"/>
            <a:ext cx="4408001" cy="4206041"/>
          </a:xfrm>
          <a:custGeom>
            <a:avLst/>
            <a:gdLst/>
            <a:ahLst/>
            <a:cxnLst/>
            <a:rect r="r" b="b" t="t" l="l"/>
            <a:pathLst>
              <a:path h="4206041" w="4408001">
                <a:moveTo>
                  <a:pt x="0" y="0"/>
                </a:moveTo>
                <a:lnTo>
                  <a:pt x="4408002" y="0"/>
                </a:lnTo>
                <a:lnTo>
                  <a:pt x="4408002" y="4206041"/>
                </a:lnTo>
                <a:lnTo>
                  <a:pt x="0" y="42060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175679">
            <a:off x="2098727" y="4628293"/>
            <a:ext cx="4408001" cy="4206041"/>
          </a:xfrm>
          <a:custGeom>
            <a:avLst/>
            <a:gdLst/>
            <a:ahLst/>
            <a:cxnLst/>
            <a:rect r="r" b="b" t="t" l="l"/>
            <a:pathLst>
              <a:path h="4206041" w="4408001">
                <a:moveTo>
                  <a:pt x="0" y="0"/>
                </a:moveTo>
                <a:lnTo>
                  <a:pt x="4408002" y="0"/>
                </a:lnTo>
                <a:lnTo>
                  <a:pt x="4408002" y="4206041"/>
                </a:lnTo>
                <a:lnTo>
                  <a:pt x="0" y="42060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2594145" y="5402384"/>
            <a:ext cx="2782255" cy="2966085"/>
          </a:xfrm>
          <a:prstGeom prst="rect">
            <a:avLst/>
          </a:prstGeom>
        </p:spPr>
        <p:txBody>
          <a:bodyPr anchor="t" rtlCol="false" tIns="0" lIns="0" bIns="0" rIns="0">
            <a:spAutoFit/>
          </a:bodyPr>
          <a:lstStyle/>
          <a:p>
            <a:pPr algn="l">
              <a:lnSpc>
                <a:spcPts val="2940"/>
              </a:lnSpc>
            </a:pPr>
            <a:r>
              <a:rPr lang="en-US" sz="2100">
                <a:solidFill>
                  <a:srgbClr val="000000"/>
                </a:solidFill>
                <a:latin typeface="Dynapuff SemiCondensed"/>
                <a:ea typeface="Dynapuff SemiCondensed"/>
                <a:cs typeface="Dynapuff SemiCondensed"/>
                <a:sym typeface="Dynapuff SemiCondensed"/>
              </a:rPr>
              <a:t>By</a:t>
            </a:r>
            <a:r>
              <a:rPr lang="en-US" sz="2100">
                <a:solidFill>
                  <a:srgbClr val="000000"/>
                </a:solidFill>
                <a:latin typeface="Dynapuff SemiCondensed"/>
                <a:ea typeface="Dynapuff SemiCondensed"/>
                <a:cs typeface="Dynapuff SemiCondensed"/>
                <a:sym typeface="Dynapuff SemiCondensed"/>
              </a:rPr>
              <a:t> using cosine similarity and rule-based sentiment</a:t>
            </a:r>
          </a:p>
          <a:p>
            <a:pPr algn="l">
              <a:lnSpc>
                <a:spcPts val="2940"/>
              </a:lnSpc>
            </a:pPr>
            <a:r>
              <a:rPr lang="en-US" sz="2100">
                <a:solidFill>
                  <a:srgbClr val="000000"/>
                </a:solidFill>
                <a:latin typeface="Dynapuff SemiCondensed"/>
                <a:ea typeface="Dynapuff SemiCondensed"/>
                <a:cs typeface="Dynapuff SemiCondensed"/>
                <a:sym typeface="Dynapuff SemiCondensed"/>
              </a:rPr>
              <a:t>analysis, the system is expected to perform better for</a:t>
            </a:r>
          </a:p>
          <a:p>
            <a:pPr algn="just">
              <a:lnSpc>
                <a:spcPts val="2940"/>
              </a:lnSpc>
            </a:pPr>
            <a:r>
              <a:rPr lang="en-US" sz="2100">
                <a:solidFill>
                  <a:srgbClr val="000000"/>
                </a:solidFill>
                <a:latin typeface="Dynapuff SemiCondensed"/>
                <a:ea typeface="Dynapuff SemiCondensed"/>
                <a:cs typeface="Dynapuff SemiCondensed"/>
                <a:sym typeface="Dynapuff SemiCondensed"/>
              </a:rPr>
              <a:t>short, unstructured comment data.</a:t>
            </a:r>
          </a:p>
        </p:txBody>
      </p:sp>
      <p:sp>
        <p:nvSpPr>
          <p:cNvPr name="TextBox 12" id="12"/>
          <p:cNvSpPr txBox="true"/>
          <p:nvPr/>
        </p:nvSpPr>
        <p:spPr>
          <a:xfrm rot="0">
            <a:off x="7752873" y="5773859"/>
            <a:ext cx="2782255" cy="2223135"/>
          </a:xfrm>
          <a:prstGeom prst="rect">
            <a:avLst/>
          </a:prstGeom>
        </p:spPr>
        <p:txBody>
          <a:bodyPr anchor="t" rtlCol="false" tIns="0" lIns="0" bIns="0" rIns="0">
            <a:spAutoFit/>
          </a:bodyPr>
          <a:lstStyle/>
          <a:p>
            <a:pPr algn="just">
              <a:lnSpc>
                <a:spcPts val="2940"/>
              </a:lnSpc>
            </a:pPr>
            <a:r>
              <a:rPr lang="en-US" sz="2100">
                <a:solidFill>
                  <a:srgbClr val="000000"/>
                </a:solidFill>
                <a:latin typeface="Dynapuff SemiCondensed"/>
                <a:ea typeface="Dynapuff SemiCondensed"/>
                <a:cs typeface="Dynapuff SemiCondensed"/>
                <a:sym typeface="Dynapuff SemiCondensed"/>
              </a:rPr>
              <a:t>It</a:t>
            </a:r>
            <a:r>
              <a:rPr lang="en-US" sz="2100">
                <a:solidFill>
                  <a:srgbClr val="000000"/>
                </a:solidFill>
                <a:latin typeface="Dynapuff SemiCondensed"/>
                <a:ea typeface="Dynapuff SemiCondensed"/>
                <a:cs typeface="Dynapuff SemiCondensed"/>
                <a:sym typeface="Dynapuff SemiCondensed"/>
              </a:rPr>
              <a:t> should be able to understand whether</a:t>
            </a:r>
          </a:p>
          <a:p>
            <a:pPr algn="just">
              <a:lnSpc>
                <a:spcPts val="2940"/>
              </a:lnSpc>
            </a:pPr>
            <a:r>
              <a:rPr lang="en-US" sz="2100">
                <a:solidFill>
                  <a:srgbClr val="000000"/>
                </a:solidFill>
                <a:latin typeface="Dynapuff SemiCondensed"/>
                <a:ea typeface="Dynapuff SemiCondensed"/>
                <a:cs typeface="Dynapuff SemiCondensed"/>
                <a:sym typeface="Dynapuff SemiCondensed"/>
              </a:rPr>
              <a:t>comments express positive, negative, or</a:t>
            </a:r>
          </a:p>
          <a:p>
            <a:pPr algn="just">
              <a:lnSpc>
                <a:spcPts val="2940"/>
              </a:lnSpc>
            </a:pPr>
            <a:r>
              <a:rPr lang="en-US" sz="2100">
                <a:solidFill>
                  <a:srgbClr val="000000"/>
                </a:solidFill>
                <a:latin typeface="Dynapuff SemiCondensed"/>
                <a:ea typeface="Dynapuff SemiCondensed"/>
                <a:cs typeface="Dynapuff SemiCondensed"/>
                <a:sym typeface="Dynapuff SemiCondensed"/>
              </a:rPr>
              <a:t>neutral feelings toward PDAM services.</a:t>
            </a:r>
          </a:p>
        </p:txBody>
      </p:sp>
      <p:sp>
        <p:nvSpPr>
          <p:cNvPr name="TextBox 13" id="13"/>
          <p:cNvSpPr txBox="true"/>
          <p:nvPr/>
        </p:nvSpPr>
        <p:spPr>
          <a:xfrm rot="0">
            <a:off x="2913354" y="6005952"/>
            <a:ext cx="2782255" cy="1758950"/>
          </a:xfrm>
          <a:prstGeom prst="rect">
            <a:avLst/>
          </a:prstGeom>
        </p:spPr>
        <p:txBody>
          <a:bodyPr anchor="t" rtlCol="false" tIns="0" lIns="0" bIns="0" rIns="0">
            <a:spAutoFit/>
          </a:bodyPr>
          <a:lstStyle/>
          <a:p>
            <a:pPr algn="just">
              <a:lnSpc>
                <a:spcPts val="2800"/>
              </a:lnSpc>
            </a:pPr>
            <a:r>
              <a:rPr lang="en-US" sz="2000">
                <a:solidFill>
                  <a:srgbClr val="000000"/>
                </a:solidFill>
                <a:latin typeface="Dynapuff SemiCondensed"/>
                <a:ea typeface="Dynapuff SemiCondensed"/>
                <a:cs typeface="Dynapuff SemiCondensed"/>
                <a:sym typeface="Dynapuff SemiCondensed"/>
              </a:rPr>
              <a:t>The system is expected to classify comments</a:t>
            </a:r>
          </a:p>
          <a:p>
            <a:pPr algn="just">
              <a:lnSpc>
                <a:spcPts val="2800"/>
              </a:lnSpc>
            </a:pPr>
            <a:r>
              <a:rPr lang="en-US" sz="2000">
                <a:solidFill>
                  <a:srgbClr val="000000"/>
                </a:solidFill>
                <a:latin typeface="Dynapuff SemiCondensed"/>
                <a:ea typeface="Dynapuff SemiCondensed"/>
                <a:cs typeface="Dynapuff SemiCondensed"/>
                <a:sym typeface="Dynapuff SemiCondensed"/>
              </a:rPr>
              <a:t>based on 10 topics  without manual intervention.</a:t>
            </a:r>
          </a:p>
        </p:txBody>
      </p:sp>
      <p:sp>
        <p:nvSpPr>
          <p:cNvPr name="Freeform 14" id="14"/>
          <p:cNvSpPr/>
          <p:nvPr/>
        </p:nvSpPr>
        <p:spPr>
          <a:xfrm flipH="false" flipV="true" rot="0">
            <a:off x="-250222" y="-103861"/>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4602938" y="3020903"/>
            <a:ext cx="298135" cy="936626"/>
          </a:xfrm>
          <a:prstGeom prst="rect">
            <a:avLst/>
          </a:prstGeom>
        </p:spPr>
        <p:txBody>
          <a:bodyPr anchor="t" rtlCol="false" tIns="0" lIns="0" bIns="0" rIns="0">
            <a:spAutoFit/>
          </a:bodyPr>
          <a:lstStyle/>
          <a:p>
            <a:pPr algn="l">
              <a:lnSpc>
                <a:spcPts val="7699"/>
              </a:lnSpc>
            </a:pPr>
            <a:r>
              <a:rPr lang="en-US" sz="5499">
                <a:solidFill>
                  <a:srgbClr val="000000"/>
                </a:solidFill>
                <a:latin typeface="Dynapuff SemiCondensed"/>
                <a:ea typeface="Dynapuff SemiCondensed"/>
                <a:cs typeface="Dynapuff SemiCondensed"/>
                <a:sym typeface="Dynapuff SemiCondensed"/>
              </a:rPr>
              <a:t>1</a:t>
            </a:r>
          </a:p>
        </p:txBody>
      </p:sp>
      <p:sp>
        <p:nvSpPr>
          <p:cNvPr name="TextBox 17" id="17"/>
          <p:cNvSpPr txBox="true"/>
          <p:nvPr/>
        </p:nvSpPr>
        <p:spPr>
          <a:xfrm rot="0">
            <a:off x="9261932" y="2970135"/>
            <a:ext cx="298135" cy="936626"/>
          </a:xfrm>
          <a:prstGeom prst="rect">
            <a:avLst/>
          </a:prstGeom>
        </p:spPr>
        <p:txBody>
          <a:bodyPr anchor="t" rtlCol="false" tIns="0" lIns="0" bIns="0" rIns="0">
            <a:spAutoFit/>
          </a:bodyPr>
          <a:lstStyle/>
          <a:p>
            <a:pPr algn="l">
              <a:lnSpc>
                <a:spcPts val="7699"/>
              </a:lnSpc>
            </a:pPr>
            <a:r>
              <a:rPr lang="en-US" sz="5499">
                <a:solidFill>
                  <a:srgbClr val="000000"/>
                </a:solidFill>
                <a:latin typeface="Dynapuff SemiCondensed"/>
                <a:ea typeface="Dynapuff SemiCondensed"/>
                <a:cs typeface="Dynapuff SemiCondensed"/>
                <a:sym typeface="Dynapuff SemiCondensed"/>
              </a:rPr>
              <a:t>2</a:t>
            </a:r>
          </a:p>
        </p:txBody>
      </p:sp>
      <p:sp>
        <p:nvSpPr>
          <p:cNvPr name="TextBox 18" id="18"/>
          <p:cNvSpPr txBox="true"/>
          <p:nvPr/>
        </p:nvSpPr>
        <p:spPr>
          <a:xfrm rot="0">
            <a:off x="13386928" y="2970135"/>
            <a:ext cx="298135" cy="936626"/>
          </a:xfrm>
          <a:prstGeom prst="rect">
            <a:avLst/>
          </a:prstGeom>
        </p:spPr>
        <p:txBody>
          <a:bodyPr anchor="t" rtlCol="false" tIns="0" lIns="0" bIns="0" rIns="0">
            <a:spAutoFit/>
          </a:bodyPr>
          <a:lstStyle/>
          <a:p>
            <a:pPr algn="l">
              <a:lnSpc>
                <a:spcPts val="7699"/>
              </a:lnSpc>
            </a:pPr>
            <a:r>
              <a:rPr lang="en-US" sz="5499">
                <a:solidFill>
                  <a:srgbClr val="000000"/>
                </a:solidFill>
                <a:latin typeface="Dynapuff SemiCondensed"/>
                <a:ea typeface="Dynapuff SemiCondensed"/>
                <a:cs typeface="Dynapuff SemiCondensed"/>
                <a:sym typeface="Dynapuff SemiCondensed"/>
              </a:rPr>
              <a:t>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0" y="61722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34455" y="1500692"/>
            <a:ext cx="15924845" cy="7285617"/>
          </a:xfrm>
          <a:custGeom>
            <a:avLst/>
            <a:gdLst/>
            <a:ahLst/>
            <a:cxnLst/>
            <a:rect r="r" b="b" t="t" l="l"/>
            <a:pathLst>
              <a:path h="7285617" w="15924845">
                <a:moveTo>
                  <a:pt x="0" y="0"/>
                </a:moveTo>
                <a:lnTo>
                  <a:pt x="15924845" y="0"/>
                </a:lnTo>
                <a:lnTo>
                  <a:pt x="15924845" y="7285616"/>
                </a:lnTo>
                <a:lnTo>
                  <a:pt x="0" y="7285616"/>
                </a:lnTo>
                <a:lnTo>
                  <a:pt x="0" y="0"/>
                </a:lnTo>
                <a:close/>
              </a:path>
            </a:pathLst>
          </a:custGeom>
          <a:blipFill>
            <a:blip r:embed="rId4"/>
            <a:stretch>
              <a:fillRect l="0" t="0" r="0" b="0"/>
            </a:stretch>
          </a:blipFill>
        </p:spPr>
      </p:sp>
      <p:sp>
        <p:nvSpPr>
          <p:cNvPr name="TextBox 5" id="5"/>
          <p:cNvSpPr txBox="true"/>
          <p:nvPr/>
        </p:nvSpPr>
        <p:spPr>
          <a:xfrm rot="0">
            <a:off x="4744200" y="326048"/>
            <a:ext cx="8799600" cy="1000125"/>
          </a:xfrm>
          <a:prstGeom prst="rect">
            <a:avLst/>
          </a:prstGeom>
        </p:spPr>
        <p:txBody>
          <a:bodyPr anchor="t" rtlCol="false" tIns="0" lIns="0" bIns="0" rIns="0">
            <a:spAutoFit/>
          </a:bodyPr>
          <a:lstStyle/>
          <a:p>
            <a:pPr algn="ctr" marL="0" indent="0" lvl="0">
              <a:lnSpc>
                <a:spcPts val="7800"/>
              </a:lnSpc>
            </a:pPr>
            <a:r>
              <a:rPr lang="en-US" sz="6500">
                <a:solidFill>
                  <a:srgbClr val="000000"/>
                </a:solidFill>
                <a:latin typeface="Dynapuff Condensed"/>
                <a:ea typeface="Dynapuff Condensed"/>
                <a:cs typeface="Dynapuff Condensed"/>
                <a:sym typeface="Dynapuff Condensed"/>
              </a:rPr>
              <a:t>SYSTEM DESIGN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0" y="61722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Object 4" id="4"/>
          <p:cNvGraphicFramePr/>
          <p:nvPr/>
        </p:nvGraphicFramePr>
        <p:xfrm>
          <a:off x="317093" y="652463"/>
          <a:ext cx="5916083" cy="8229600"/>
        </p:xfrm>
        <a:graphic>
          <a:graphicData uri="http://schemas.openxmlformats.org/presentationml/2006/ole">
            <p:oleObj imgW="7556500" imgH="98679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5" id="5"/>
          <p:cNvSpPr txBox="true"/>
          <p:nvPr/>
        </p:nvSpPr>
        <p:spPr>
          <a:xfrm rot="0">
            <a:off x="6515573" y="690563"/>
            <a:ext cx="5256853" cy="714375"/>
          </a:xfrm>
          <a:prstGeom prst="rect">
            <a:avLst/>
          </a:prstGeom>
        </p:spPr>
        <p:txBody>
          <a:bodyPr anchor="t" rtlCol="false" tIns="0" lIns="0" bIns="0" rIns="0">
            <a:spAutoFit/>
          </a:bodyPr>
          <a:lstStyle/>
          <a:p>
            <a:pPr algn="ctr" marL="0" indent="0" lvl="0">
              <a:lnSpc>
                <a:spcPts val="5549"/>
              </a:lnSpc>
            </a:pPr>
            <a:r>
              <a:rPr lang="en-US" sz="4999">
                <a:solidFill>
                  <a:srgbClr val="000000"/>
                </a:solidFill>
                <a:latin typeface="Dynapuff Condensed"/>
                <a:ea typeface="Dynapuff Condensed"/>
                <a:cs typeface="Dynapuff Condensed"/>
                <a:sym typeface="Dynapuff Condensed"/>
              </a:rPr>
              <a:t>TEXT SEGMENTATION</a:t>
            </a:r>
          </a:p>
        </p:txBody>
      </p:sp>
      <p:sp>
        <p:nvSpPr>
          <p:cNvPr name="TextBox 6" id="6"/>
          <p:cNvSpPr txBox="true"/>
          <p:nvPr/>
        </p:nvSpPr>
        <p:spPr>
          <a:xfrm rot="0">
            <a:off x="7097807" y="2839204"/>
            <a:ext cx="9599997" cy="5728336"/>
          </a:xfrm>
          <a:prstGeom prst="rect">
            <a:avLst/>
          </a:prstGeom>
        </p:spPr>
        <p:txBody>
          <a:bodyPr anchor="t" rtlCol="false" tIns="0" lIns="0" bIns="0" rIns="0">
            <a:spAutoFit/>
          </a:bodyPr>
          <a:lstStyle/>
          <a:p>
            <a:pPr algn="just">
              <a:lnSpc>
                <a:spcPts val="5039"/>
              </a:lnSpc>
            </a:pPr>
            <a:r>
              <a:rPr lang="en-US" sz="3599">
                <a:solidFill>
                  <a:srgbClr val="000000"/>
                </a:solidFill>
                <a:latin typeface="Dynapuff Condensed"/>
                <a:ea typeface="Dynapuff Condensed"/>
                <a:cs typeface="Dynapuff Condensed"/>
                <a:sym typeface="Dynapuff Condensed"/>
              </a:rPr>
              <a:t>T</a:t>
            </a:r>
            <a:r>
              <a:rPr lang="en-US" sz="3599">
                <a:solidFill>
                  <a:srgbClr val="000000"/>
                </a:solidFill>
                <a:latin typeface="Dynapuff Condensed"/>
                <a:ea typeface="Dynapuff Condensed"/>
                <a:cs typeface="Dynapuff Condensed"/>
                <a:sym typeface="Dynapuff Condensed"/>
              </a:rPr>
              <a:t>ext segmentation is performed to divide multi-aspect comments into smaller segments, allowing each complaint context to be analyzed independently. The segmentation process uses conjunction-based rules to detect aspect boundaries, ensuring that each segment contains a single dominant aspect. This approach improves aspect classification accuracy by reducing context overlap within a comment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0" y="61722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515573" y="690563"/>
            <a:ext cx="5256853" cy="714375"/>
          </a:xfrm>
          <a:prstGeom prst="rect">
            <a:avLst/>
          </a:prstGeom>
        </p:spPr>
        <p:txBody>
          <a:bodyPr anchor="t" rtlCol="false" tIns="0" lIns="0" bIns="0" rIns="0">
            <a:spAutoFit/>
          </a:bodyPr>
          <a:lstStyle/>
          <a:p>
            <a:pPr algn="ctr" marL="0" indent="0" lvl="0">
              <a:lnSpc>
                <a:spcPts val="5549"/>
              </a:lnSpc>
            </a:pPr>
            <a:r>
              <a:rPr lang="en-US" sz="4999">
                <a:solidFill>
                  <a:srgbClr val="000000"/>
                </a:solidFill>
                <a:latin typeface="Dynapuff Condensed"/>
                <a:ea typeface="Dynapuff Condensed"/>
                <a:cs typeface="Dynapuff Condensed"/>
                <a:sym typeface="Dynapuff Condensed"/>
              </a:rPr>
              <a:t>DATA SPLIT</a:t>
            </a:r>
          </a:p>
        </p:txBody>
      </p:sp>
      <p:sp>
        <p:nvSpPr>
          <p:cNvPr name="TextBox 5" id="5"/>
          <p:cNvSpPr txBox="true"/>
          <p:nvPr/>
        </p:nvSpPr>
        <p:spPr>
          <a:xfrm rot="0">
            <a:off x="2343409" y="1632290"/>
            <a:ext cx="13601183" cy="6965269"/>
          </a:xfrm>
          <a:prstGeom prst="rect">
            <a:avLst/>
          </a:prstGeom>
        </p:spPr>
        <p:txBody>
          <a:bodyPr anchor="t" rtlCol="false" tIns="0" lIns="0" bIns="0" rIns="0">
            <a:spAutoFit/>
          </a:bodyPr>
          <a:lstStyle/>
          <a:p>
            <a:pPr algn="just">
              <a:lnSpc>
                <a:spcPts val="4287"/>
              </a:lnSpc>
            </a:pPr>
            <a:r>
              <a:rPr lang="en-US" sz="3062">
                <a:solidFill>
                  <a:srgbClr val="000000"/>
                </a:solidFill>
                <a:latin typeface="Dynapuff Condensed"/>
                <a:ea typeface="Dynapuff Condensed"/>
                <a:cs typeface="Dynapuff Condensed"/>
                <a:sym typeface="Dynapuff Condensed"/>
              </a:rPr>
              <a:t>Scenario 1</a:t>
            </a:r>
          </a:p>
          <a:p>
            <a:pPr algn="just">
              <a:lnSpc>
                <a:spcPts val="4287"/>
              </a:lnSpc>
            </a:pPr>
            <a:r>
              <a:rPr lang="en-US" sz="3062">
                <a:solidFill>
                  <a:srgbClr val="000000"/>
                </a:solidFill>
                <a:latin typeface="Dynapuff Condensed"/>
                <a:ea typeface="Dynapuff Condensed"/>
                <a:cs typeface="Dynapuff Condensed"/>
                <a:sym typeface="Dynapuff Condensed"/>
              </a:rPr>
              <a:t>Training Data: Non Segmented Data (Single Aspect)</a:t>
            </a:r>
          </a:p>
          <a:p>
            <a:pPr algn="just">
              <a:lnSpc>
                <a:spcPts val="4287"/>
              </a:lnSpc>
            </a:pPr>
            <a:r>
              <a:rPr lang="en-US" sz="3062">
                <a:solidFill>
                  <a:srgbClr val="000000"/>
                </a:solidFill>
                <a:latin typeface="Dynapuff Condensed"/>
                <a:ea typeface="Dynapuff Condensed"/>
                <a:cs typeface="Dynapuff Condensed"/>
                <a:sym typeface="Dynapuff Condensed"/>
              </a:rPr>
              <a:t>Test Data: Segmented Data (Multi Aspect Only</a:t>
            </a:r>
          </a:p>
          <a:p>
            <a:pPr algn="l" marL="661226" indent="-330613" lvl="1">
              <a:lnSpc>
                <a:spcPts val="4287"/>
              </a:lnSpc>
              <a:buFont typeface="Arial"/>
              <a:buChar char="•"/>
            </a:pPr>
            <a:r>
              <a:rPr lang="en-US" sz="3062">
                <a:solidFill>
                  <a:srgbClr val="000000"/>
                </a:solidFill>
                <a:latin typeface="Dynapuff Condensed"/>
                <a:ea typeface="Dynapuff Condensed"/>
                <a:cs typeface="Dynapuff Condensed"/>
                <a:sym typeface="Dynapuff Condensed"/>
              </a:rPr>
              <a:t>Test data containe only segmented comments</a:t>
            </a:r>
          </a:p>
          <a:p>
            <a:pPr algn="l" marL="661226" indent="-330613" lvl="1">
              <a:lnSpc>
                <a:spcPts val="4287"/>
              </a:lnSpc>
              <a:buFont typeface="Arial"/>
              <a:buChar char="•"/>
            </a:pPr>
            <a:r>
              <a:rPr lang="en-US" sz="3062">
                <a:solidFill>
                  <a:srgbClr val="000000"/>
                </a:solidFill>
                <a:latin typeface="Dynapuff Condensed"/>
                <a:ea typeface="Dynapuff Condensed"/>
                <a:cs typeface="Dynapuff Condensed"/>
                <a:sym typeface="Dynapuff Condensed"/>
              </a:rPr>
              <a:t>No test instance is compared with itself in the training set</a:t>
            </a:r>
          </a:p>
          <a:p>
            <a:pPr algn="l" marL="661226" indent="-330613" lvl="1">
              <a:lnSpc>
                <a:spcPts val="4287"/>
              </a:lnSpc>
              <a:buFont typeface="Arial"/>
              <a:buChar char="•"/>
            </a:pPr>
            <a:r>
              <a:rPr lang="en-US" sz="3062">
                <a:solidFill>
                  <a:srgbClr val="000000"/>
                </a:solidFill>
                <a:latin typeface="Dynapuff Condensed"/>
                <a:ea typeface="Dynapuff Condensed"/>
                <a:cs typeface="Dynapuff Condensed"/>
                <a:sym typeface="Dynapuff Condensed"/>
              </a:rPr>
              <a:t>Used to evaluate the model on unseen aspect segments</a:t>
            </a:r>
          </a:p>
          <a:p>
            <a:pPr algn="l">
              <a:lnSpc>
                <a:spcPts val="4287"/>
              </a:lnSpc>
            </a:pPr>
          </a:p>
          <a:p>
            <a:pPr algn="l">
              <a:lnSpc>
                <a:spcPts val="4287"/>
              </a:lnSpc>
            </a:pPr>
            <a:r>
              <a:rPr lang="en-US" sz="3062">
                <a:solidFill>
                  <a:srgbClr val="000000"/>
                </a:solidFill>
                <a:latin typeface="Dynapuff Condensed"/>
                <a:ea typeface="Dynapuff Condensed"/>
                <a:cs typeface="Dynapuff Condensed"/>
                <a:sym typeface="Dynapuff Condensed"/>
              </a:rPr>
              <a:t>Scenario 2</a:t>
            </a:r>
          </a:p>
          <a:p>
            <a:pPr algn="l">
              <a:lnSpc>
                <a:spcPts val="4287"/>
              </a:lnSpc>
            </a:pPr>
            <a:r>
              <a:rPr lang="en-US" sz="3062">
                <a:solidFill>
                  <a:srgbClr val="000000"/>
                </a:solidFill>
                <a:latin typeface="Dynapuff Condensed"/>
                <a:ea typeface="Dynapuff Condensed"/>
                <a:cs typeface="Dynapuff Condensed"/>
                <a:sym typeface="Dynapuff Condensed"/>
              </a:rPr>
              <a:t>Training Data: Non Segmented Data (Single Aspect)</a:t>
            </a:r>
          </a:p>
          <a:p>
            <a:pPr algn="l">
              <a:lnSpc>
                <a:spcPts val="4287"/>
              </a:lnSpc>
            </a:pPr>
            <a:r>
              <a:rPr lang="en-US" sz="3062">
                <a:solidFill>
                  <a:srgbClr val="000000"/>
                </a:solidFill>
                <a:latin typeface="Dynapuff Condensed"/>
                <a:ea typeface="Dynapuff Condensed"/>
                <a:cs typeface="Dynapuff Condensed"/>
                <a:sym typeface="Dynapuff Condensed"/>
              </a:rPr>
              <a:t>Test Data: Full Dataset (100% data)</a:t>
            </a:r>
          </a:p>
          <a:p>
            <a:pPr algn="l" marL="661226" indent="-330613" lvl="1">
              <a:lnSpc>
                <a:spcPts val="4287"/>
              </a:lnSpc>
              <a:buFont typeface="Arial"/>
              <a:buChar char="•"/>
            </a:pPr>
            <a:r>
              <a:rPr lang="en-US" sz="3062">
                <a:solidFill>
                  <a:srgbClr val="000000"/>
                </a:solidFill>
                <a:latin typeface="Dynapuff Condensed"/>
                <a:ea typeface="Dynapuff Condensed"/>
                <a:cs typeface="Dynapuff Condensed"/>
                <a:sym typeface="Dynapuff Condensed"/>
              </a:rPr>
              <a:t>Test Data contains both segmented and non segmented comments</a:t>
            </a:r>
          </a:p>
          <a:p>
            <a:pPr algn="l" marL="661226" indent="-330613" lvl="1">
              <a:lnSpc>
                <a:spcPts val="4287"/>
              </a:lnSpc>
              <a:buFont typeface="Arial"/>
              <a:buChar char="•"/>
            </a:pPr>
            <a:r>
              <a:rPr lang="en-US" sz="3062">
                <a:solidFill>
                  <a:srgbClr val="000000"/>
                </a:solidFill>
                <a:latin typeface="Dynapuff Condensed"/>
                <a:ea typeface="Dynapuff Condensed"/>
                <a:cs typeface="Dynapuff Condensed"/>
                <a:sym typeface="Dynapuff Condensed"/>
              </a:rPr>
              <a:t>Some test instances may also exist in the training set</a:t>
            </a:r>
          </a:p>
          <a:p>
            <a:pPr algn="l" marL="661226" indent="-330613" lvl="1">
              <a:lnSpc>
                <a:spcPts val="4287"/>
              </a:lnSpc>
              <a:buFont typeface="Arial"/>
              <a:buChar char="•"/>
            </a:pPr>
            <a:r>
              <a:rPr lang="en-US" sz="3062">
                <a:solidFill>
                  <a:srgbClr val="000000"/>
                </a:solidFill>
                <a:latin typeface="Dynapuff Condensed"/>
                <a:ea typeface="Dynapuff Condensed"/>
                <a:cs typeface="Dynapuff Condensed"/>
                <a:sym typeface="Dynapuff Condensed"/>
              </a:rPr>
              <a:t>Designed to to examine the impact of self comparison on prediction result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0" y="61722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Object 4" id="4"/>
          <p:cNvGraphicFramePr/>
          <p:nvPr/>
        </p:nvGraphicFramePr>
        <p:xfrm>
          <a:off x="1028700" y="407726"/>
          <a:ext cx="5916083" cy="8229600"/>
        </p:xfrm>
        <a:graphic>
          <a:graphicData uri="http://schemas.openxmlformats.org/presentationml/2006/ole">
            <p:oleObj imgW="7556500" imgH="98679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aphicFrame>
        <p:nvGraphicFramePr>
          <p:cNvPr name="Object 5" id="5"/>
          <p:cNvGraphicFramePr/>
          <p:nvPr/>
        </p:nvGraphicFramePr>
        <p:xfrm>
          <a:off x="1028700" y="5233993"/>
          <a:ext cx="8273710" cy="8229600"/>
        </p:xfrm>
        <a:graphic>
          <a:graphicData uri="http://schemas.openxmlformats.org/presentationml/2006/ole">
            <p:oleObj imgW="9918700" imgH="98806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6" id="6"/>
          <p:cNvSpPr txBox="true"/>
          <p:nvPr/>
        </p:nvSpPr>
        <p:spPr>
          <a:xfrm rot="0">
            <a:off x="6515573" y="690563"/>
            <a:ext cx="5256853" cy="714375"/>
          </a:xfrm>
          <a:prstGeom prst="rect">
            <a:avLst/>
          </a:prstGeom>
        </p:spPr>
        <p:txBody>
          <a:bodyPr anchor="t" rtlCol="false" tIns="0" lIns="0" bIns="0" rIns="0">
            <a:spAutoFit/>
          </a:bodyPr>
          <a:lstStyle/>
          <a:p>
            <a:pPr algn="ctr" marL="0" indent="0" lvl="0">
              <a:lnSpc>
                <a:spcPts val="5549"/>
              </a:lnSpc>
            </a:pPr>
            <a:r>
              <a:rPr lang="en-US" sz="4999">
                <a:solidFill>
                  <a:srgbClr val="000000"/>
                </a:solidFill>
                <a:latin typeface="Dynapuff Condensed"/>
                <a:ea typeface="Dynapuff Condensed"/>
                <a:cs typeface="Dynapuff Condensed"/>
                <a:sym typeface="Dynapuff Condensed"/>
              </a:rPr>
              <a:t>ASPECT USED</a:t>
            </a:r>
          </a:p>
        </p:txBody>
      </p:sp>
      <p:sp>
        <p:nvSpPr>
          <p:cNvPr name="TextBox 7" id="7"/>
          <p:cNvSpPr txBox="true"/>
          <p:nvPr/>
        </p:nvSpPr>
        <p:spPr>
          <a:xfrm rot="0">
            <a:off x="6740204" y="1805354"/>
            <a:ext cx="10064444" cy="7727950"/>
          </a:xfrm>
          <a:prstGeom prst="rect">
            <a:avLst/>
          </a:prstGeom>
        </p:spPr>
        <p:txBody>
          <a:bodyPr anchor="t" rtlCol="false" tIns="0" lIns="0" bIns="0" rIns="0">
            <a:spAutoFit/>
          </a:bodyPr>
          <a:lstStyle/>
          <a:p>
            <a:pPr algn="just">
              <a:lnSpc>
                <a:spcPts val="5599"/>
              </a:lnSpc>
            </a:pPr>
            <a:r>
              <a:rPr lang="en-US" sz="3999">
                <a:solidFill>
                  <a:srgbClr val="000000"/>
                </a:solidFill>
                <a:latin typeface="Dynapuff Condensed"/>
                <a:ea typeface="Dynapuff Condensed"/>
                <a:cs typeface="Dynapuff Condensed"/>
                <a:sym typeface="Dynapuff Condensed"/>
              </a:rPr>
              <a:t>In th</a:t>
            </a:r>
            <a:r>
              <a:rPr lang="en-US" sz="3999">
                <a:solidFill>
                  <a:srgbClr val="000000"/>
                </a:solidFill>
                <a:latin typeface="Dynapuff Condensed"/>
                <a:ea typeface="Dynapuff Condensed"/>
                <a:cs typeface="Dynapuff Condensed"/>
                <a:sym typeface="Dynapuff Condensed"/>
              </a:rPr>
              <a:t>e aspect-based stage, the author defined 10 aspects as shown in Table:</a:t>
            </a:r>
          </a:p>
          <a:p>
            <a:pPr algn="l" marL="863599" indent="-431800" lvl="1">
              <a:lnSpc>
                <a:spcPts val="5599"/>
              </a:lnSpc>
              <a:buFont typeface="Arial"/>
              <a:buChar char="•"/>
            </a:pPr>
            <a:r>
              <a:rPr lang="en-US" sz="3999">
                <a:solidFill>
                  <a:srgbClr val="000000"/>
                </a:solidFill>
                <a:latin typeface="Dynapuff Condensed"/>
                <a:ea typeface="Dynapuff Condensed"/>
                <a:cs typeface="Dynapuff Condensed"/>
                <a:sym typeface="Dynapuff Condensed"/>
              </a:rPr>
              <a:t>These aspects were determined based on two main sources: the aspects already available in the PDAM CIS application (Air Kotor/Bau, Kebocoran, Meteran (Macet/Bermasalah), Air Tidak Mengalir, Pemakaian, Perubahan Kode Tarif)</a:t>
            </a:r>
          </a:p>
          <a:p>
            <a:pPr algn="l" marL="863599" indent="-431800" lvl="1">
              <a:lnSpc>
                <a:spcPts val="5599"/>
              </a:lnSpc>
              <a:buFont typeface="Arial"/>
              <a:buChar char="•"/>
            </a:pPr>
            <a:r>
              <a:rPr lang="en-US" sz="3999">
                <a:solidFill>
                  <a:srgbClr val="000000"/>
                </a:solidFill>
                <a:latin typeface="Dynapuff Condensed"/>
                <a:ea typeface="Dynapuff Condensed"/>
                <a:cs typeface="Dynapuff Condensed"/>
                <a:sym typeface="Dynapuff Condensed"/>
              </a:rPr>
              <a:t>The author’s own observations after reviewing the dataset (Pemasangan, Pelayanan, Harga, Lainnya).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835269"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009891" y="690563"/>
            <a:ext cx="8268219" cy="714375"/>
          </a:xfrm>
          <a:prstGeom prst="rect">
            <a:avLst/>
          </a:prstGeom>
        </p:spPr>
        <p:txBody>
          <a:bodyPr anchor="t" rtlCol="false" tIns="0" lIns="0" bIns="0" rIns="0">
            <a:spAutoFit/>
          </a:bodyPr>
          <a:lstStyle/>
          <a:p>
            <a:pPr algn="ctr" marL="0" indent="0" lvl="0">
              <a:lnSpc>
                <a:spcPts val="5549"/>
              </a:lnSpc>
            </a:pPr>
            <a:r>
              <a:rPr lang="en-US" sz="4999">
                <a:solidFill>
                  <a:srgbClr val="000000"/>
                </a:solidFill>
                <a:latin typeface="Dynapuff Condensed"/>
                <a:ea typeface="Dynapuff Condensed"/>
                <a:cs typeface="Dynapuff Condensed"/>
                <a:sym typeface="Dynapuff Condensed"/>
              </a:rPr>
              <a:t>ASPECT BASED MODEL EVALUATION</a:t>
            </a:r>
          </a:p>
        </p:txBody>
      </p:sp>
      <p:sp>
        <p:nvSpPr>
          <p:cNvPr name="TextBox 5" id="5"/>
          <p:cNvSpPr txBox="true"/>
          <p:nvPr/>
        </p:nvSpPr>
        <p:spPr>
          <a:xfrm rot="0">
            <a:off x="706184" y="2686050"/>
            <a:ext cx="16875631" cy="5613401"/>
          </a:xfrm>
          <a:prstGeom prst="rect">
            <a:avLst/>
          </a:prstGeom>
        </p:spPr>
        <p:txBody>
          <a:bodyPr anchor="t" rtlCol="false" tIns="0" lIns="0" bIns="0" rIns="0">
            <a:spAutoFit/>
          </a:bodyPr>
          <a:lstStyle/>
          <a:p>
            <a:pPr algn="just">
              <a:lnSpc>
                <a:spcPts val="5599"/>
              </a:lnSpc>
            </a:pPr>
            <a:r>
              <a:rPr lang="en-US" sz="3999">
                <a:solidFill>
                  <a:srgbClr val="000000"/>
                </a:solidFill>
                <a:latin typeface="Dynapuff Condensed"/>
                <a:ea typeface="Dynapuff Condensed"/>
                <a:cs typeface="Dynapuff Condensed"/>
                <a:sym typeface="Dynapuff Condensed"/>
              </a:rPr>
              <a:t>A. Scenar</a:t>
            </a:r>
            <a:r>
              <a:rPr lang="en-US" sz="3999">
                <a:solidFill>
                  <a:srgbClr val="000000"/>
                </a:solidFill>
                <a:latin typeface="Dynapuff Condensed"/>
                <a:ea typeface="Dynapuff Condensed"/>
                <a:cs typeface="Dynapuff Condensed"/>
                <a:sym typeface="Dynapuff Condensed"/>
              </a:rPr>
              <a:t>io 1 (Training Data: Non-Segmented Data | Testing Data: Segmented Data)</a:t>
            </a:r>
          </a:p>
          <a:p>
            <a:pPr algn="just">
              <a:lnSpc>
                <a:spcPts val="5599"/>
              </a:lnSpc>
            </a:pPr>
            <a:r>
              <a:rPr lang="en-US" sz="3999">
                <a:solidFill>
                  <a:srgbClr val="000000"/>
                </a:solidFill>
                <a:latin typeface="Dynapuff Condensed"/>
                <a:ea typeface="Dynapuff Condensed"/>
                <a:cs typeface="Dynapuff Condensed"/>
                <a:sym typeface="Dynapuff Condensed"/>
              </a:rPr>
              <a:t>1. First Experiment (N-Gram = (1,3), Primary Threshold = 0.60, Others Threshold = 0.18)</a:t>
            </a:r>
          </a:p>
          <a:p>
            <a:pPr algn="just">
              <a:lnSpc>
                <a:spcPts val="5599"/>
              </a:lnSpc>
            </a:pPr>
            <a:r>
              <a:rPr lang="en-US" sz="3999">
                <a:solidFill>
                  <a:srgbClr val="000000"/>
                </a:solidFill>
                <a:latin typeface="Dynapuff Condensed"/>
                <a:ea typeface="Dynapuff Condensed"/>
                <a:cs typeface="Dynapuff Condensed"/>
                <a:sym typeface="Dynapuff Condensed"/>
              </a:rPr>
              <a:t>In the first experiment of Scenario 1, the system produced 3,784 correct predictions and 1,308 incorrect predictions, achieving an accuracy of 74.31% and an average F1-score of 0.7052. These results indicate that the model was able to classify aspects in segmented data reasonably well. However, distinguishing between aspects with similar or closely related contexts remained a challenge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835269"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009891" y="690563"/>
            <a:ext cx="8268219" cy="714375"/>
          </a:xfrm>
          <a:prstGeom prst="rect">
            <a:avLst/>
          </a:prstGeom>
        </p:spPr>
        <p:txBody>
          <a:bodyPr anchor="t" rtlCol="false" tIns="0" lIns="0" bIns="0" rIns="0">
            <a:spAutoFit/>
          </a:bodyPr>
          <a:lstStyle/>
          <a:p>
            <a:pPr algn="ctr" marL="0" indent="0" lvl="0">
              <a:lnSpc>
                <a:spcPts val="5549"/>
              </a:lnSpc>
            </a:pPr>
            <a:r>
              <a:rPr lang="en-US" sz="4999">
                <a:solidFill>
                  <a:srgbClr val="000000"/>
                </a:solidFill>
                <a:latin typeface="Dynapuff Condensed"/>
                <a:ea typeface="Dynapuff Condensed"/>
                <a:cs typeface="Dynapuff Condensed"/>
                <a:sym typeface="Dynapuff Condensed"/>
              </a:rPr>
              <a:t>ASPECT BASED MODEL EVALUATION</a:t>
            </a:r>
          </a:p>
        </p:txBody>
      </p:sp>
      <p:sp>
        <p:nvSpPr>
          <p:cNvPr name="TextBox 5" id="5"/>
          <p:cNvSpPr txBox="true"/>
          <p:nvPr/>
        </p:nvSpPr>
        <p:spPr>
          <a:xfrm rot="0">
            <a:off x="706184" y="2519037"/>
            <a:ext cx="16875631" cy="5613401"/>
          </a:xfrm>
          <a:prstGeom prst="rect">
            <a:avLst/>
          </a:prstGeom>
        </p:spPr>
        <p:txBody>
          <a:bodyPr anchor="t" rtlCol="false" tIns="0" lIns="0" bIns="0" rIns="0">
            <a:spAutoFit/>
          </a:bodyPr>
          <a:lstStyle/>
          <a:p>
            <a:pPr algn="just">
              <a:lnSpc>
                <a:spcPts val="5599"/>
              </a:lnSpc>
            </a:pPr>
            <a:r>
              <a:rPr lang="en-US" sz="3999">
                <a:solidFill>
                  <a:srgbClr val="000000"/>
                </a:solidFill>
                <a:latin typeface="Dynapuff Condensed"/>
                <a:ea typeface="Dynapuff Condensed"/>
                <a:cs typeface="Dynapuff Condensed"/>
                <a:sym typeface="Dynapuff Condensed"/>
              </a:rPr>
              <a:t>2. Sec</a:t>
            </a:r>
            <a:r>
              <a:rPr lang="en-US" sz="3999">
                <a:solidFill>
                  <a:srgbClr val="000000"/>
                </a:solidFill>
                <a:latin typeface="Dynapuff Condensed"/>
                <a:ea typeface="Dynapuff Condensed"/>
                <a:cs typeface="Dynapuff Condensed"/>
                <a:sym typeface="Dynapuff Condensed"/>
              </a:rPr>
              <a:t>ond Experiment (N-Gram = (1,2), Primary Threshold = 0.60, Others Threshold = 0.18)</a:t>
            </a:r>
          </a:p>
          <a:p>
            <a:pPr algn="just">
              <a:lnSpc>
                <a:spcPts val="5599"/>
              </a:lnSpc>
            </a:pPr>
            <a:r>
              <a:rPr lang="en-US" sz="3999">
                <a:solidFill>
                  <a:srgbClr val="000000"/>
                </a:solidFill>
                <a:latin typeface="Dynapuff Condensed"/>
                <a:ea typeface="Dynapuff Condensed"/>
                <a:cs typeface="Dynapuff Condensed"/>
                <a:sym typeface="Dynapuff Condensed"/>
              </a:rPr>
              <a:t>In the second experiment of Scenario 1, the system produced 3,606 correct predictions and 1,476 incorrect predictions, achieving an accuracy of 70.82% and an average F1-score of 0.6813. This performance is lower than that of the first experiment, indicating that the use of only unigrams and bigrams is less effective in capturing the context of segmented data compared to using n-grams up to trigrams.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835269"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009891" y="690563"/>
            <a:ext cx="8268219" cy="714375"/>
          </a:xfrm>
          <a:prstGeom prst="rect">
            <a:avLst/>
          </a:prstGeom>
        </p:spPr>
        <p:txBody>
          <a:bodyPr anchor="t" rtlCol="false" tIns="0" lIns="0" bIns="0" rIns="0">
            <a:spAutoFit/>
          </a:bodyPr>
          <a:lstStyle/>
          <a:p>
            <a:pPr algn="ctr" marL="0" indent="0" lvl="0">
              <a:lnSpc>
                <a:spcPts val="5549"/>
              </a:lnSpc>
            </a:pPr>
            <a:r>
              <a:rPr lang="en-US" sz="4999">
                <a:solidFill>
                  <a:srgbClr val="000000"/>
                </a:solidFill>
                <a:latin typeface="Dynapuff Condensed"/>
                <a:ea typeface="Dynapuff Condensed"/>
                <a:cs typeface="Dynapuff Condensed"/>
                <a:sym typeface="Dynapuff Condensed"/>
              </a:rPr>
              <a:t>ASPECT BASED MODEL EVALUATION</a:t>
            </a:r>
          </a:p>
        </p:txBody>
      </p:sp>
      <p:sp>
        <p:nvSpPr>
          <p:cNvPr name="TextBox 5" id="5"/>
          <p:cNvSpPr txBox="true"/>
          <p:nvPr/>
        </p:nvSpPr>
        <p:spPr>
          <a:xfrm rot="0">
            <a:off x="706184" y="1981200"/>
            <a:ext cx="16875631" cy="7023101"/>
          </a:xfrm>
          <a:prstGeom prst="rect">
            <a:avLst/>
          </a:prstGeom>
        </p:spPr>
        <p:txBody>
          <a:bodyPr anchor="t" rtlCol="false" tIns="0" lIns="0" bIns="0" rIns="0">
            <a:spAutoFit/>
          </a:bodyPr>
          <a:lstStyle/>
          <a:p>
            <a:pPr algn="just">
              <a:lnSpc>
                <a:spcPts val="5599"/>
              </a:lnSpc>
            </a:pPr>
            <a:r>
              <a:rPr lang="en-US" sz="3999">
                <a:solidFill>
                  <a:srgbClr val="000000"/>
                </a:solidFill>
                <a:latin typeface="Dynapuff Condensed"/>
                <a:ea typeface="Dynapuff Condensed"/>
                <a:cs typeface="Dynapuff Condensed"/>
                <a:sym typeface="Dynapuff Condensed"/>
              </a:rPr>
              <a:t>B. Scenar</a:t>
            </a:r>
            <a:r>
              <a:rPr lang="en-US" sz="3999">
                <a:solidFill>
                  <a:srgbClr val="000000"/>
                </a:solidFill>
                <a:latin typeface="Dynapuff Condensed"/>
                <a:ea typeface="Dynapuff Condensed"/>
                <a:cs typeface="Dynapuff Condensed"/>
                <a:sym typeface="Dynapuff Condensed"/>
              </a:rPr>
              <a:t>io 2 (Training Data: Non-Segmented Data | Testing Data: 100% Data)</a:t>
            </a:r>
          </a:p>
          <a:p>
            <a:pPr algn="just">
              <a:lnSpc>
                <a:spcPts val="5599"/>
              </a:lnSpc>
            </a:pPr>
            <a:r>
              <a:rPr lang="en-US" sz="3999">
                <a:solidFill>
                  <a:srgbClr val="000000"/>
                </a:solidFill>
                <a:latin typeface="Dynapuff Condensed"/>
                <a:ea typeface="Dynapuff Condensed"/>
                <a:cs typeface="Dynapuff Condensed"/>
                <a:sym typeface="Dynapuff Condensed"/>
              </a:rPr>
              <a:t>1. First Experiment (N-Gram = (1,3), Primary Threshold = 0.60, Others Threshold = 0.18)</a:t>
            </a:r>
          </a:p>
          <a:p>
            <a:pPr algn="just">
              <a:lnSpc>
                <a:spcPts val="5599"/>
              </a:lnSpc>
            </a:pPr>
            <a:r>
              <a:rPr lang="en-US" sz="3999">
                <a:solidFill>
                  <a:srgbClr val="000000"/>
                </a:solidFill>
                <a:latin typeface="Dynapuff Condensed"/>
                <a:ea typeface="Dynapuff Condensed"/>
                <a:cs typeface="Dynapuff Condensed"/>
                <a:sym typeface="Dynapuff Condensed"/>
              </a:rPr>
              <a:t>In the first experiment of Scenario 2, the system produced 19,003 correct predictions and 1,362 incorrect predictions, achieving an accuracy of 93.31% and an average F1-score of 0.8841. These results indicate that the model performs very well in identifying aspects when the testing data consists of the entire dataset, including both non-segmented and segmented comments. Under this condition, many test instances share highly similar patterns with the training data, making it easier for the system to identify the appropriate aspect.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835269"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009891" y="690563"/>
            <a:ext cx="8268219" cy="714375"/>
          </a:xfrm>
          <a:prstGeom prst="rect">
            <a:avLst/>
          </a:prstGeom>
        </p:spPr>
        <p:txBody>
          <a:bodyPr anchor="t" rtlCol="false" tIns="0" lIns="0" bIns="0" rIns="0">
            <a:spAutoFit/>
          </a:bodyPr>
          <a:lstStyle/>
          <a:p>
            <a:pPr algn="ctr" marL="0" indent="0" lvl="0">
              <a:lnSpc>
                <a:spcPts val="5549"/>
              </a:lnSpc>
            </a:pPr>
            <a:r>
              <a:rPr lang="en-US" sz="4999">
                <a:solidFill>
                  <a:srgbClr val="000000"/>
                </a:solidFill>
                <a:latin typeface="Dynapuff Condensed"/>
                <a:ea typeface="Dynapuff Condensed"/>
                <a:cs typeface="Dynapuff Condensed"/>
                <a:sym typeface="Dynapuff Condensed"/>
              </a:rPr>
              <a:t>ASPECT BASED MODEL EVALUATION</a:t>
            </a:r>
          </a:p>
        </p:txBody>
      </p:sp>
      <p:sp>
        <p:nvSpPr>
          <p:cNvPr name="TextBox 5" id="5"/>
          <p:cNvSpPr txBox="true"/>
          <p:nvPr/>
        </p:nvSpPr>
        <p:spPr>
          <a:xfrm rot="0">
            <a:off x="706184" y="2686050"/>
            <a:ext cx="16875631" cy="5613401"/>
          </a:xfrm>
          <a:prstGeom prst="rect">
            <a:avLst/>
          </a:prstGeom>
        </p:spPr>
        <p:txBody>
          <a:bodyPr anchor="t" rtlCol="false" tIns="0" lIns="0" bIns="0" rIns="0">
            <a:spAutoFit/>
          </a:bodyPr>
          <a:lstStyle/>
          <a:p>
            <a:pPr algn="just">
              <a:lnSpc>
                <a:spcPts val="5599"/>
              </a:lnSpc>
            </a:pPr>
            <a:r>
              <a:rPr lang="en-US" sz="3999">
                <a:solidFill>
                  <a:srgbClr val="000000"/>
                </a:solidFill>
                <a:latin typeface="Dynapuff Condensed"/>
                <a:ea typeface="Dynapuff Condensed"/>
                <a:cs typeface="Dynapuff Condensed"/>
                <a:sym typeface="Dynapuff Condensed"/>
              </a:rPr>
              <a:t>2. Sec</a:t>
            </a:r>
            <a:r>
              <a:rPr lang="en-US" sz="3999">
                <a:solidFill>
                  <a:srgbClr val="000000"/>
                </a:solidFill>
                <a:latin typeface="Dynapuff Condensed"/>
                <a:ea typeface="Dynapuff Condensed"/>
                <a:cs typeface="Dynapuff Condensed"/>
                <a:sym typeface="Dynapuff Condensed"/>
              </a:rPr>
              <a:t>ond Experiment (N-Gram = (1,2), Primary Threshold = 0.60, Others Threshold = 0.18)</a:t>
            </a:r>
          </a:p>
          <a:p>
            <a:pPr algn="just">
              <a:lnSpc>
                <a:spcPts val="5599"/>
              </a:lnSpc>
            </a:pPr>
            <a:r>
              <a:rPr lang="en-US" sz="3999">
                <a:solidFill>
                  <a:srgbClr val="000000"/>
                </a:solidFill>
                <a:latin typeface="Dynapuff Condensed"/>
                <a:ea typeface="Dynapuff Condensed"/>
                <a:cs typeface="Dynapuff Condensed"/>
                <a:sym typeface="Dynapuff Condensed"/>
              </a:rPr>
              <a:t>In the second experiment of Scenario 2, the system produced 18,825 correct predictions and 1,540 incorrect predictions, achieving an accuracy of 92.44% and an average F1-score of 0.8749. These results indicate that the model still performs very well when the testing data consists of the full dataset. This suggests that the use of unigrams and bigrams alone is sufficient to capture aspect-related patterns in most customer comments.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835269"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36468" y="690563"/>
            <a:ext cx="5015065" cy="714375"/>
          </a:xfrm>
          <a:prstGeom prst="rect">
            <a:avLst/>
          </a:prstGeom>
        </p:spPr>
        <p:txBody>
          <a:bodyPr anchor="t" rtlCol="false" tIns="0" lIns="0" bIns="0" rIns="0">
            <a:spAutoFit/>
          </a:bodyPr>
          <a:lstStyle/>
          <a:p>
            <a:pPr algn="ctr" marL="0" indent="0" lvl="0">
              <a:lnSpc>
                <a:spcPts val="5549"/>
              </a:lnSpc>
            </a:pPr>
            <a:r>
              <a:rPr lang="en-US" sz="4999">
                <a:solidFill>
                  <a:srgbClr val="000000"/>
                </a:solidFill>
                <a:latin typeface="Dynapuff Condensed"/>
                <a:ea typeface="Dynapuff Condensed"/>
                <a:cs typeface="Dynapuff Condensed"/>
                <a:sym typeface="Dynapuff Condensed"/>
              </a:rPr>
              <a:t>RULE EXPLANATION</a:t>
            </a:r>
          </a:p>
        </p:txBody>
      </p:sp>
      <p:sp>
        <p:nvSpPr>
          <p:cNvPr name="TextBox 5" id="5"/>
          <p:cNvSpPr txBox="true"/>
          <p:nvPr/>
        </p:nvSpPr>
        <p:spPr>
          <a:xfrm rot="0">
            <a:off x="706184" y="1851025"/>
            <a:ext cx="16875631" cy="7407275"/>
          </a:xfrm>
          <a:prstGeom prst="rect">
            <a:avLst/>
          </a:prstGeom>
        </p:spPr>
        <p:txBody>
          <a:bodyPr anchor="t" rtlCol="false" tIns="0" lIns="0" bIns="0" rIns="0">
            <a:spAutoFit/>
          </a:bodyPr>
          <a:lstStyle/>
          <a:p>
            <a:pPr algn="l">
              <a:lnSpc>
                <a:spcPts val="4899"/>
              </a:lnSpc>
            </a:pPr>
            <a:r>
              <a:rPr lang="en-US" sz="3499">
                <a:solidFill>
                  <a:srgbClr val="000000"/>
                </a:solidFill>
                <a:latin typeface="Dynapuff Condensed"/>
                <a:ea typeface="Dynapuff Condensed"/>
                <a:cs typeface="Dynapuff Condensed"/>
                <a:sym typeface="Dynapuff Condensed"/>
              </a:rPr>
              <a:t>1.Single Adjective</a:t>
            </a:r>
          </a:p>
          <a:p>
            <a:pPr algn="l">
              <a:lnSpc>
                <a:spcPts val="4899"/>
              </a:lnSpc>
            </a:pPr>
            <a:r>
              <a:rPr lang="en-US" sz="3499">
                <a:solidFill>
                  <a:srgbClr val="000000"/>
                </a:solidFill>
                <a:latin typeface="Dynapuff Condensed"/>
                <a:ea typeface="Dynapuff Condensed"/>
                <a:cs typeface="Dynapuff Condensed"/>
                <a:sym typeface="Dynapuff Condensed"/>
              </a:rPr>
              <a:t> </a:t>
            </a:r>
            <a:r>
              <a:rPr lang="en-US" sz="3499" b="true">
                <a:solidFill>
                  <a:srgbClr val="000000"/>
                </a:solidFill>
                <a:latin typeface="Dynapuff Condensed Bold"/>
                <a:ea typeface="Dynapuff Condensed Bold"/>
                <a:cs typeface="Dynapuff Condensed Bold"/>
                <a:sym typeface="Dynapuff Condensed Bold"/>
              </a:rPr>
              <a:t>The</a:t>
            </a:r>
            <a:r>
              <a:rPr lang="en-US" sz="3499" b="true">
                <a:solidFill>
                  <a:srgbClr val="000000"/>
                </a:solidFill>
                <a:latin typeface="Dynapuff Condensed Bold"/>
                <a:ea typeface="Dynapuff Condensed Bold"/>
                <a:cs typeface="Dynapuff Condensed Bold"/>
                <a:sym typeface="Dynapuff Condensed Bold"/>
              </a:rPr>
              <a:t> first rule is single adjectives. If a sentence contains an adjective with a sentiment value and it is not involved in any other rule combination, its sentiment value is directly used as the sentence score.</a:t>
            </a:r>
          </a:p>
          <a:p>
            <a:pPr algn="l">
              <a:lnSpc>
                <a:spcPts val="4899"/>
              </a:lnSpc>
            </a:pPr>
            <a:r>
              <a:rPr lang="en-US" sz="3499">
                <a:solidFill>
                  <a:srgbClr val="000000"/>
                </a:solidFill>
                <a:latin typeface="Dynapuff Condensed"/>
                <a:ea typeface="Dynapuff Condensed"/>
                <a:cs typeface="Dynapuff Condensed"/>
                <a:sym typeface="Dynapuff Condensed"/>
              </a:rPr>
              <a:t> Example: the word lama is an adjective with a value of -1 →</a:t>
            </a:r>
          </a:p>
          <a:p>
            <a:pPr algn="l">
              <a:lnSpc>
                <a:spcPts val="4899"/>
              </a:lnSpc>
            </a:pPr>
            <a:r>
              <a:rPr lang="en-US" sz="3499">
                <a:solidFill>
                  <a:srgbClr val="000000"/>
                </a:solidFill>
                <a:latin typeface="Dynapuff Condensed"/>
                <a:ea typeface="Dynapuff Condensed"/>
                <a:cs typeface="Dynapuff Condensed"/>
                <a:sym typeface="Dynapuff Condensed"/>
              </a:rPr>
              <a:t> score = sentiment(lama) = -1 → Negative</a:t>
            </a:r>
          </a:p>
          <a:p>
            <a:pPr algn="l">
              <a:lnSpc>
                <a:spcPts val="4899"/>
              </a:lnSpc>
            </a:pPr>
          </a:p>
          <a:p>
            <a:pPr algn="l">
              <a:lnSpc>
                <a:spcPts val="4899"/>
              </a:lnSpc>
            </a:pPr>
            <a:r>
              <a:rPr lang="en-US" sz="3499">
                <a:solidFill>
                  <a:srgbClr val="000000"/>
                </a:solidFill>
                <a:latin typeface="Dynapuff Condensed"/>
                <a:ea typeface="Dynapuff Condensed"/>
                <a:cs typeface="Dynapuff Condensed"/>
                <a:sym typeface="Dynapuff Condensed"/>
              </a:rPr>
              <a:t>2.Single Verb</a:t>
            </a:r>
          </a:p>
          <a:p>
            <a:pPr algn="l">
              <a:lnSpc>
                <a:spcPts val="4899"/>
              </a:lnSpc>
            </a:pPr>
            <a:r>
              <a:rPr lang="en-US" sz="3499" b="true">
                <a:solidFill>
                  <a:srgbClr val="000000"/>
                </a:solidFill>
                <a:latin typeface="Dynapuff Condensed Bold"/>
                <a:ea typeface="Dynapuff Condensed Bold"/>
                <a:cs typeface="Dynapuff Condensed Bold"/>
                <a:sym typeface="Dynapuff Condensed Bold"/>
              </a:rPr>
              <a:t>The second rule is single verbs. If a sentence contains a verb with a sentiment value and it is not paired with other rules, its value is directly applied.</a:t>
            </a:r>
          </a:p>
          <a:p>
            <a:pPr algn="l">
              <a:lnSpc>
                <a:spcPts val="4899"/>
              </a:lnSpc>
            </a:pPr>
            <a:r>
              <a:rPr lang="en-US" sz="3499">
                <a:solidFill>
                  <a:srgbClr val="000000"/>
                </a:solidFill>
                <a:latin typeface="Dynapuff Condensed"/>
                <a:ea typeface="Dynapuff Condensed"/>
                <a:cs typeface="Dynapuff Condensed"/>
                <a:sym typeface="Dynapuff Condensed"/>
              </a:rPr>
              <a:t> Example: the word bayar is a verb with a value of -1 →</a:t>
            </a:r>
          </a:p>
          <a:p>
            <a:pPr algn="l">
              <a:lnSpc>
                <a:spcPts val="4899"/>
              </a:lnSpc>
            </a:pPr>
            <a:r>
              <a:rPr lang="en-US" sz="3499">
                <a:solidFill>
                  <a:srgbClr val="000000"/>
                </a:solidFill>
                <a:latin typeface="Dynapuff Condensed"/>
                <a:ea typeface="Dynapuff Condensed"/>
                <a:cs typeface="Dynapuff Condensed"/>
                <a:sym typeface="Dynapuff Condensed"/>
              </a:rPr>
              <a:t> score = sentiment(bayar) = -1 → Negative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835269"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36468" y="690563"/>
            <a:ext cx="5015065" cy="714375"/>
          </a:xfrm>
          <a:prstGeom prst="rect">
            <a:avLst/>
          </a:prstGeom>
        </p:spPr>
        <p:txBody>
          <a:bodyPr anchor="t" rtlCol="false" tIns="0" lIns="0" bIns="0" rIns="0">
            <a:spAutoFit/>
          </a:bodyPr>
          <a:lstStyle/>
          <a:p>
            <a:pPr algn="ctr" marL="0" indent="0" lvl="0">
              <a:lnSpc>
                <a:spcPts val="5549"/>
              </a:lnSpc>
            </a:pPr>
            <a:r>
              <a:rPr lang="en-US" sz="4999">
                <a:solidFill>
                  <a:srgbClr val="000000"/>
                </a:solidFill>
                <a:latin typeface="Dynapuff Condensed"/>
                <a:ea typeface="Dynapuff Condensed"/>
                <a:cs typeface="Dynapuff Condensed"/>
                <a:sym typeface="Dynapuff Condensed"/>
              </a:rPr>
              <a:t>RULE EXPLANATION</a:t>
            </a:r>
          </a:p>
        </p:txBody>
      </p:sp>
      <p:sp>
        <p:nvSpPr>
          <p:cNvPr name="TextBox 5" id="5"/>
          <p:cNvSpPr txBox="true"/>
          <p:nvPr/>
        </p:nvSpPr>
        <p:spPr>
          <a:xfrm rot="0">
            <a:off x="706184" y="1703021"/>
            <a:ext cx="16875631" cy="7727951"/>
          </a:xfrm>
          <a:prstGeom prst="rect">
            <a:avLst/>
          </a:prstGeom>
        </p:spPr>
        <p:txBody>
          <a:bodyPr anchor="t" rtlCol="false" tIns="0" lIns="0" bIns="0" rIns="0">
            <a:spAutoFit/>
          </a:bodyPr>
          <a:lstStyle/>
          <a:p>
            <a:pPr algn="l">
              <a:lnSpc>
                <a:spcPts val="5599"/>
              </a:lnSpc>
            </a:pPr>
            <a:r>
              <a:rPr lang="en-US" sz="3999">
                <a:solidFill>
                  <a:srgbClr val="000000"/>
                </a:solidFill>
                <a:latin typeface="Dynapuff Condensed"/>
                <a:ea typeface="Dynapuff Condensed"/>
                <a:cs typeface="Dynapuff Condensed"/>
                <a:sym typeface="Dynapuff Condensed"/>
              </a:rPr>
              <a:t>3.Preposition + Adjective</a:t>
            </a:r>
          </a:p>
          <a:p>
            <a:pPr algn="l">
              <a:lnSpc>
                <a:spcPts val="5599"/>
              </a:lnSpc>
            </a:pPr>
            <a:r>
              <a:rPr lang="en-US" sz="3999">
                <a:solidFill>
                  <a:srgbClr val="000000"/>
                </a:solidFill>
                <a:latin typeface="Dynapuff Condensed"/>
                <a:ea typeface="Dynapuff Condensed"/>
                <a:cs typeface="Dynapuff Condensed"/>
                <a:sym typeface="Dynapuff Condensed"/>
              </a:rPr>
              <a:t> </a:t>
            </a:r>
            <a:r>
              <a:rPr lang="en-US" sz="3999" b="true">
                <a:solidFill>
                  <a:srgbClr val="000000"/>
                </a:solidFill>
                <a:latin typeface="Dynapuff Condensed Bold"/>
                <a:ea typeface="Dynapuff Condensed Bold"/>
                <a:cs typeface="Dynapuff Condensed Bold"/>
                <a:sym typeface="Dynapuff Condensed Bold"/>
              </a:rPr>
              <a:t>Th</a:t>
            </a:r>
            <a:r>
              <a:rPr lang="en-US" sz="3999" b="true">
                <a:solidFill>
                  <a:srgbClr val="000000"/>
                </a:solidFill>
                <a:latin typeface="Dynapuff Condensed Bold"/>
                <a:ea typeface="Dynapuff Condensed Bold"/>
                <a:cs typeface="Dynapuff Condensed Bold"/>
                <a:sym typeface="Dynapuff Condensed Bold"/>
              </a:rPr>
              <a:t>is rule combines a preposition and an adjective using the AND operator.</a:t>
            </a:r>
          </a:p>
          <a:p>
            <a:pPr algn="l">
              <a:lnSpc>
                <a:spcPts val="5599"/>
              </a:lnSpc>
            </a:pPr>
            <a:r>
              <a:rPr lang="en-US" sz="3999">
                <a:solidFill>
                  <a:srgbClr val="000000"/>
                </a:solidFill>
                <a:latin typeface="Dynapuff Condensed"/>
                <a:ea typeface="Dynapuff Condensed"/>
                <a:cs typeface="Dynapuff Condensed"/>
                <a:sym typeface="Dynapuff Condensed"/>
              </a:rPr>
              <a:t> Example: air dalam keruh → dalam = 1, keruh = -1 → AND(1, -1) = -1</a:t>
            </a:r>
          </a:p>
          <a:p>
            <a:pPr algn="l">
              <a:lnSpc>
                <a:spcPts val="5599"/>
              </a:lnSpc>
            </a:pPr>
            <a:r>
              <a:rPr lang="en-US" sz="3999">
                <a:solidFill>
                  <a:srgbClr val="000000"/>
                </a:solidFill>
                <a:latin typeface="Dynapuff Condensed"/>
                <a:ea typeface="Dynapuff Condensed"/>
                <a:cs typeface="Dynapuff Condensed"/>
                <a:sym typeface="Dynapuff Condensed"/>
              </a:rPr>
              <a:t> The word air also has a value of -1 →</a:t>
            </a:r>
          </a:p>
          <a:p>
            <a:pPr algn="l">
              <a:lnSpc>
                <a:spcPts val="5599"/>
              </a:lnSpc>
            </a:pPr>
            <a:r>
              <a:rPr lang="en-US" sz="3999">
                <a:solidFill>
                  <a:srgbClr val="000000"/>
                </a:solidFill>
                <a:latin typeface="Dynapuff Condensed"/>
                <a:ea typeface="Dynapuff Condensed"/>
                <a:cs typeface="Dynapuff Condensed"/>
                <a:sym typeface="Dynapuff Condensed"/>
              </a:rPr>
              <a:t> score = sentiment(air) + AND(dalam, keruh) = -1 + (-1) = -2 → Negative</a:t>
            </a:r>
          </a:p>
          <a:p>
            <a:pPr algn="l">
              <a:lnSpc>
                <a:spcPts val="5599"/>
              </a:lnSpc>
            </a:pPr>
          </a:p>
          <a:p>
            <a:pPr algn="l">
              <a:lnSpc>
                <a:spcPts val="5599"/>
              </a:lnSpc>
            </a:pPr>
            <a:r>
              <a:rPr lang="en-US" sz="3999">
                <a:solidFill>
                  <a:srgbClr val="000000"/>
                </a:solidFill>
                <a:latin typeface="Dynapuff Condensed"/>
                <a:ea typeface="Dynapuff Condensed"/>
                <a:cs typeface="Dynapuff Condensed"/>
                <a:sym typeface="Dynapuff Condensed"/>
              </a:rPr>
              <a:t>4.Preposition + Verb</a:t>
            </a:r>
          </a:p>
          <a:p>
            <a:pPr algn="l">
              <a:lnSpc>
                <a:spcPts val="5599"/>
              </a:lnSpc>
            </a:pPr>
            <a:r>
              <a:rPr lang="en-US" sz="3999">
                <a:solidFill>
                  <a:srgbClr val="000000"/>
                </a:solidFill>
                <a:latin typeface="Dynapuff Condensed"/>
                <a:ea typeface="Dynapuff Condensed"/>
                <a:cs typeface="Dynapuff Condensed"/>
                <a:sym typeface="Dynapuff Condensed"/>
              </a:rPr>
              <a:t> </a:t>
            </a:r>
            <a:r>
              <a:rPr lang="en-US" sz="3999" b="true">
                <a:solidFill>
                  <a:srgbClr val="000000"/>
                </a:solidFill>
                <a:latin typeface="Dynapuff Condensed Bold"/>
                <a:ea typeface="Dynapuff Condensed Bold"/>
                <a:cs typeface="Dynapuff Condensed Bold"/>
                <a:sym typeface="Dynapuff Condensed Bold"/>
              </a:rPr>
              <a:t>This rule combines a preposition and a verb, often appearing in negation forms.</a:t>
            </a:r>
          </a:p>
          <a:p>
            <a:pPr algn="l">
              <a:lnSpc>
                <a:spcPts val="5599"/>
              </a:lnSpc>
            </a:pPr>
            <a:r>
              <a:rPr lang="en-US" sz="3999">
                <a:solidFill>
                  <a:srgbClr val="000000"/>
                </a:solidFill>
                <a:latin typeface="Dynapuff Condensed"/>
                <a:ea typeface="Dynapuff Condensed"/>
                <a:cs typeface="Dynapuff Condensed"/>
                <a:sym typeface="Dynapuff Condensed"/>
              </a:rPr>
              <a:t> Example: tidak ada kelanjutan → complaint penalty = -1, tidak = -1, ada = 0 →</a:t>
            </a:r>
          </a:p>
          <a:p>
            <a:pPr algn="l">
              <a:lnSpc>
                <a:spcPts val="5599"/>
              </a:lnSpc>
            </a:pPr>
            <a:r>
              <a:rPr lang="en-US" sz="3999">
                <a:solidFill>
                  <a:srgbClr val="000000"/>
                </a:solidFill>
                <a:latin typeface="Dynapuff Condensed"/>
                <a:ea typeface="Dynapuff Condensed"/>
                <a:cs typeface="Dynapuff Condensed"/>
                <a:sym typeface="Dynapuff Condensed"/>
              </a:rPr>
              <a:t> score = complaint penalty + sentiment(tidak) + sentiment(ada) = -1 + (-1) + 0 = -2 → Negative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835269"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36468" y="690563"/>
            <a:ext cx="5015065" cy="714375"/>
          </a:xfrm>
          <a:prstGeom prst="rect">
            <a:avLst/>
          </a:prstGeom>
        </p:spPr>
        <p:txBody>
          <a:bodyPr anchor="t" rtlCol="false" tIns="0" lIns="0" bIns="0" rIns="0">
            <a:spAutoFit/>
          </a:bodyPr>
          <a:lstStyle/>
          <a:p>
            <a:pPr algn="ctr" marL="0" indent="0" lvl="0">
              <a:lnSpc>
                <a:spcPts val="5549"/>
              </a:lnSpc>
            </a:pPr>
            <a:r>
              <a:rPr lang="en-US" sz="4999">
                <a:solidFill>
                  <a:srgbClr val="000000"/>
                </a:solidFill>
                <a:latin typeface="Dynapuff Condensed"/>
                <a:ea typeface="Dynapuff Condensed"/>
                <a:cs typeface="Dynapuff Condensed"/>
                <a:sym typeface="Dynapuff Condensed"/>
              </a:rPr>
              <a:t>RULE EXPLANATION</a:t>
            </a:r>
          </a:p>
        </p:txBody>
      </p:sp>
      <p:sp>
        <p:nvSpPr>
          <p:cNvPr name="TextBox 5" id="5"/>
          <p:cNvSpPr txBox="true"/>
          <p:nvPr/>
        </p:nvSpPr>
        <p:spPr>
          <a:xfrm rot="0">
            <a:off x="706184" y="1703021"/>
            <a:ext cx="16875631" cy="7727951"/>
          </a:xfrm>
          <a:prstGeom prst="rect">
            <a:avLst/>
          </a:prstGeom>
        </p:spPr>
        <p:txBody>
          <a:bodyPr anchor="t" rtlCol="false" tIns="0" lIns="0" bIns="0" rIns="0">
            <a:spAutoFit/>
          </a:bodyPr>
          <a:lstStyle/>
          <a:p>
            <a:pPr algn="l">
              <a:lnSpc>
                <a:spcPts val="5599"/>
              </a:lnSpc>
            </a:pPr>
            <a:r>
              <a:rPr lang="en-US" sz="3999">
                <a:solidFill>
                  <a:srgbClr val="000000"/>
                </a:solidFill>
                <a:latin typeface="Dynapuff Condensed"/>
                <a:ea typeface="Dynapuff Condensed"/>
                <a:cs typeface="Dynapuff Condensed"/>
                <a:sym typeface="Dynapuff Condensed"/>
              </a:rPr>
              <a:t>5.Verb + Adjective</a:t>
            </a:r>
          </a:p>
          <a:p>
            <a:pPr algn="l">
              <a:lnSpc>
                <a:spcPts val="5599"/>
              </a:lnSpc>
            </a:pPr>
            <a:r>
              <a:rPr lang="en-US" sz="3999">
                <a:solidFill>
                  <a:srgbClr val="000000"/>
                </a:solidFill>
                <a:latin typeface="Dynapuff Condensed"/>
                <a:ea typeface="Dynapuff Condensed"/>
                <a:cs typeface="Dynapuff Condensed"/>
                <a:sym typeface="Dynapuff Condensed"/>
              </a:rPr>
              <a:t> </a:t>
            </a:r>
            <a:r>
              <a:rPr lang="en-US" sz="3999" b="true">
                <a:solidFill>
                  <a:srgbClr val="000000"/>
                </a:solidFill>
                <a:latin typeface="Dynapuff Condensed Bold"/>
                <a:ea typeface="Dynapuff Condensed Bold"/>
                <a:cs typeface="Dynapuff Condensed Bold"/>
                <a:sym typeface="Dynapuff Condensed Bold"/>
              </a:rPr>
              <a:t>Th</a:t>
            </a:r>
            <a:r>
              <a:rPr lang="en-US" sz="3999" b="true">
                <a:solidFill>
                  <a:srgbClr val="000000"/>
                </a:solidFill>
                <a:latin typeface="Dynapuff Condensed Bold"/>
                <a:ea typeface="Dynapuff Condensed Bold"/>
                <a:cs typeface="Dynapuff Condensed Bold"/>
                <a:sym typeface="Dynapuff Condensed Bold"/>
              </a:rPr>
              <a:t>is rule combines a verb and an adjective using the NAND operator.</a:t>
            </a:r>
          </a:p>
          <a:p>
            <a:pPr algn="l">
              <a:lnSpc>
                <a:spcPts val="5599"/>
              </a:lnSpc>
            </a:pPr>
            <a:r>
              <a:rPr lang="en-US" sz="3999">
                <a:solidFill>
                  <a:srgbClr val="000000"/>
                </a:solidFill>
                <a:latin typeface="Dynapuff Condensed"/>
                <a:ea typeface="Dynapuff Condensed"/>
                <a:cs typeface="Dynapuff Condensed"/>
                <a:sym typeface="Dynapuff Condensed"/>
              </a:rPr>
              <a:t> Example: bayar mahal → bayar = -1, mahal = -1 → NAND(-1, -1) = -1</a:t>
            </a:r>
          </a:p>
          <a:p>
            <a:pPr algn="l">
              <a:lnSpc>
                <a:spcPts val="5599"/>
              </a:lnSpc>
            </a:pPr>
            <a:r>
              <a:rPr lang="en-US" sz="3999">
                <a:solidFill>
                  <a:srgbClr val="000000"/>
                </a:solidFill>
                <a:latin typeface="Dynapuff Condensed"/>
                <a:ea typeface="Dynapuff Condensed"/>
                <a:cs typeface="Dynapuff Condensed"/>
                <a:sym typeface="Dynapuff Condensed"/>
              </a:rPr>
              <a:t> The clause also includes air keruh = -1 and bau = -1 →</a:t>
            </a:r>
          </a:p>
          <a:p>
            <a:pPr algn="l">
              <a:lnSpc>
                <a:spcPts val="5599"/>
              </a:lnSpc>
            </a:pPr>
            <a:r>
              <a:rPr lang="en-US" sz="3999">
                <a:solidFill>
                  <a:srgbClr val="000000"/>
                </a:solidFill>
                <a:latin typeface="Dynapuff Condensed"/>
                <a:ea typeface="Dynapuff Condensed"/>
                <a:cs typeface="Dynapuff Condensed"/>
                <a:sym typeface="Dynapuff Condensed"/>
              </a:rPr>
              <a:t> score = NAND(bayar, mahal) + sentiment(air keruh) + sentiment(bau) = -1 + (-1) + (-1) = -3 → Negative</a:t>
            </a:r>
          </a:p>
          <a:p>
            <a:pPr algn="l">
              <a:lnSpc>
                <a:spcPts val="5599"/>
              </a:lnSpc>
            </a:pPr>
          </a:p>
          <a:p>
            <a:pPr algn="l">
              <a:lnSpc>
                <a:spcPts val="5599"/>
              </a:lnSpc>
            </a:pPr>
            <a:r>
              <a:rPr lang="en-US" sz="3999">
                <a:solidFill>
                  <a:srgbClr val="000000"/>
                </a:solidFill>
                <a:latin typeface="Dynapuff Condensed"/>
                <a:ea typeface="Dynapuff Condensed"/>
                <a:cs typeface="Dynapuff Condensed"/>
                <a:sym typeface="Dynapuff Condensed"/>
              </a:rPr>
              <a:t>6.Preposition + Verb + Adjective</a:t>
            </a:r>
          </a:p>
          <a:p>
            <a:pPr algn="l">
              <a:lnSpc>
                <a:spcPts val="5599"/>
              </a:lnSpc>
            </a:pPr>
            <a:r>
              <a:rPr lang="en-US" sz="3999" b="true">
                <a:solidFill>
                  <a:srgbClr val="000000"/>
                </a:solidFill>
                <a:latin typeface="Dynapuff Condensed Bold"/>
                <a:ea typeface="Dynapuff Condensed Bold"/>
                <a:cs typeface="Dynapuff Condensed Bold"/>
                <a:sym typeface="Dynapuff Condensed Bold"/>
              </a:rPr>
              <a:t> This rule combines a preposition, verb, and adjective.</a:t>
            </a:r>
          </a:p>
          <a:p>
            <a:pPr algn="l">
              <a:lnSpc>
                <a:spcPts val="5599"/>
              </a:lnSpc>
            </a:pPr>
            <a:r>
              <a:rPr lang="en-US" sz="3999">
                <a:solidFill>
                  <a:srgbClr val="000000"/>
                </a:solidFill>
                <a:latin typeface="Dynapuff Condensed"/>
                <a:ea typeface="Dynapuff Condensed"/>
                <a:cs typeface="Dynapuff Condensed"/>
                <a:sym typeface="Dynapuff Condensed"/>
              </a:rPr>
              <a:t> Example: air tidak keluar mati → tidak keluar = -1, mati = -1 →</a:t>
            </a:r>
          </a:p>
          <a:p>
            <a:pPr algn="l">
              <a:lnSpc>
                <a:spcPts val="5599"/>
              </a:lnSpc>
            </a:pPr>
            <a:r>
              <a:rPr lang="en-US" sz="3999">
                <a:solidFill>
                  <a:srgbClr val="000000"/>
                </a:solidFill>
                <a:latin typeface="Dynapuff Condensed"/>
                <a:ea typeface="Dynapuff Condensed"/>
                <a:cs typeface="Dynapuff Condensed"/>
                <a:sym typeface="Dynapuff Condensed"/>
              </a:rPr>
              <a:t> score = sentiment(tidak keluar) + sentiment(mati) = -1 + (-1) = -2 → Negative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835269"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36468" y="690563"/>
            <a:ext cx="5015065" cy="714375"/>
          </a:xfrm>
          <a:prstGeom prst="rect">
            <a:avLst/>
          </a:prstGeom>
        </p:spPr>
        <p:txBody>
          <a:bodyPr anchor="t" rtlCol="false" tIns="0" lIns="0" bIns="0" rIns="0">
            <a:spAutoFit/>
          </a:bodyPr>
          <a:lstStyle/>
          <a:p>
            <a:pPr algn="ctr" marL="0" indent="0" lvl="0">
              <a:lnSpc>
                <a:spcPts val="5549"/>
              </a:lnSpc>
            </a:pPr>
            <a:r>
              <a:rPr lang="en-US" sz="4999">
                <a:solidFill>
                  <a:srgbClr val="000000"/>
                </a:solidFill>
                <a:latin typeface="Dynapuff Condensed"/>
                <a:ea typeface="Dynapuff Condensed"/>
                <a:cs typeface="Dynapuff Condensed"/>
                <a:sym typeface="Dynapuff Condensed"/>
              </a:rPr>
              <a:t>RULE EXPLANATION</a:t>
            </a:r>
          </a:p>
        </p:txBody>
      </p:sp>
      <p:sp>
        <p:nvSpPr>
          <p:cNvPr name="TextBox 5" id="5"/>
          <p:cNvSpPr txBox="true"/>
          <p:nvPr/>
        </p:nvSpPr>
        <p:spPr>
          <a:xfrm rot="0">
            <a:off x="706184" y="1526824"/>
            <a:ext cx="16875631" cy="8126730"/>
          </a:xfrm>
          <a:prstGeom prst="rect">
            <a:avLst/>
          </a:prstGeom>
        </p:spPr>
        <p:txBody>
          <a:bodyPr anchor="t" rtlCol="false" tIns="0" lIns="0" bIns="0" rIns="0">
            <a:spAutoFit/>
          </a:bodyPr>
          <a:lstStyle/>
          <a:p>
            <a:pPr algn="l">
              <a:lnSpc>
                <a:spcPts val="4619"/>
              </a:lnSpc>
            </a:pPr>
            <a:r>
              <a:rPr lang="en-US" sz="3299">
                <a:solidFill>
                  <a:srgbClr val="000000"/>
                </a:solidFill>
                <a:latin typeface="Dynapuff Condensed"/>
                <a:ea typeface="Dynapuff Condensed"/>
                <a:cs typeface="Dynapuff Condensed"/>
                <a:sym typeface="Dynapuff Condensed"/>
              </a:rPr>
              <a:t>7. Phrase Detection</a:t>
            </a:r>
          </a:p>
          <a:p>
            <a:pPr algn="l" marL="712468" indent="-356234" lvl="1">
              <a:lnSpc>
                <a:spcPts val="4619"/>
              </a:lnSpc>
              <a:buFont typeface="Arial"/>
              <a:buChar char="•"/>
            </a:pPr>
            <a:r>
              <a:rPr lang="en-US" b="true" sz="3299">
                <a:solidFill>
                  <a:srgbClr val="000000"/>
                </a:solidFill>
                <a:latin typeface="Dynapuff Condensed Bold"/>
                <a:ea typeface="Dynapuff Condensed Bold"/>
                <a:cs typeface="Dynapuff Condensed Bold"/>
                <a:sym typeface="Dynapuff Condensed Bold"/>
              </a:rPr>
              <a:t>The </a:t>
            </a:r>
            <a:r>
              <a:rPr lang="en-US" b="true" sz="3299">
                <a:solidFill>
                  <a:srgbClr val="000000"/>
                </a:solidFill>
                <a:latin typeface="Dynapuff Condensed Bold"/>
                <a:ea typeface="Dynapuff Condensed Bold"/>
                <a:cs typeface="Dynapuff Condensed Bold"/>
                <a:sym typeface="Dynapuff Condensed Bold"/>
              </a:rPr>
              <a:t>system identifies phrases stored in the phrase lexicon.</a:t>
            </a:r>
          </a:p>
          <a:p>
            <a:pPr algn="l" marL="712468" indent="-356234" lvl="1">
              <a:lnSpc>
                <a:spcPts val="4619"/>
              </a:lnSpc>
              <a:buFont typeface="Arial"/>
              <a:buChar char="•"/>
            </a:pPr>
            <a:r>
              <a:rPr lang="en-US" b="true" sz="3299">
                <a:solidFill>
                  <a:srgbClr val="000000"/>
                </a:solidFill>
                <a:latin typeface="Dynapuff Condensed Bold"/>
                <a:ea typeface="Dynapuff Condensed Bold"/>
                <a:cs typeface="Dynapuff Condensed Bold"/>
                <a:sym typeface="Dynapuff Condensed Bold"/>
              </a:rPr>
              <a:t>A phrase is treated as a single sentiment unit rather than separate words.</a:t>
            </a:r>
          </a:p>
          <a:p>
            <a:pPr algn="l" marL="712468" indent="-356234" lvl="1">
              <a:lnSpc>
                <a:spcPts val="4619"/>
              </a:lnSpc>
              <a:buFont typeface="Arial"/>
              <a:buChar char="•"/>
            </a:pPr>
            <a:r>
              <a:rPr lang="en-US" b="true" sz="3299">
                <a:solidFill>
                  <a:srgbClr val="000000"/>
                </a:solidFill>
                <a:latin typeface="Dynapuff Condensed Bold"/>
                <a:ea typeface="Dynapuff Condensed Bold"/>
                <a:cs typeface="Dynapuff Condensed Bold"/>
                <a:sym typeface="Dynapuff Condensed Bold"/>
              </a:rPr>
              <a:t>Phrase matching is performed before individual word scoring.</a:t>
            </a:r>
          </a:p>
          <a:p>
            <a:pPr algn="l">
              <a:lnSpc>
                <a:spcPts val="4619"/>
              </a:lnSpc>
            </a:pPr>
            <a:r>
              <a:rPr lang="en-US" sz="3299">
                <a:solidFill>
                  <a:srgbClr val="000000"/>
                </a:solidFill>
                <a:latin typeface="Dynapuff Condensed"/>
                <a:ea typeface="Dynapuff Condensed"/>
                <a:cs typeface="Dynapuff Condensed"/>
                <a:sym typeface="Dynapuff Condensed"/>
              </a:rPr>
              <a:t>Example:</a:t>
            </a:r>
          </a:p>
          <a:p>
            <a:pPr algn="l">
              <a:lnSpc>
                <a:spcPts val="4619"/>
              </a:lnSpc>
            </a:pPr>
            <a:r>
              <a:rPr lang="en-US" sz="3299">
                <a:solidFill>
                  <a:srgbClr val="000000"/>
                </a:solidFill>
                <a:latin typeface="Dynapuff Condensed"/>
                <a:ea typeface="Dynapuff Condensed"/>
                <a:cs typeface="Dynapuff Condensed"/>
                <a:sym typeface="Dynapuff Condensed"/>
              </a:rPr>
              <a:t>terima kasih → score = +1 → Positive</a:t>
            </a:r>
          </a:p>
          <a:p>
            <a:pPr algn="l">
              <a:lnSpc>
                <a:spcPts val="4619"/>
              </a:lnSpc>
            </a:pPr>
            <a:r>
              <a:rPr lang="en-US" sz="3299">
                <a:solidFill>
                  <a:srgbClr val="000000"/>
                </a:solidFill>
                <a:latin typeface="Dynapuff Condensed"/>
                <a:ea typeface="Dynapuff Condensed"/>
                <a:cs typeface="Dynapuff Condensed"/>
                <a:sym typeface="Dynapuff Condensed"/>
              </a:rPr>
              <a:t>air mati → score = −1 → Negative</a:t>
            </a:r>
          </a:p>
          <a:p>
            <a:pPr algn="l">
              <a:lnSpc>
                <a:spcPts val="4619"/>
              </a:lnSpc>
            </a:pPr>
            <a:r>
              <a:rPr lang="en-US" sz="3299">
                <a:solidFill>
                  <a:srgbClr val="000000"/>
                </a:solidFill>
                <a:latin typeface="Dynapuff Condensed"/>
                <a:ea typeface="Dynapuff Condensed"/>
                <a:cs typeface="Dynapuff Condensed"/>
                <a:sym typeface="Dynapuff Condensed"/>
              </a:rPr>
              <a:t>This rule helps capture sentiment that may not be accurately represented by individual words alone.</a:t>
            </a:r>
          </a:p>
          <a:p>
            <a:pPr algn="l">
              <a:lnSpc>
                <a:spcPts val="4619"/>
              </a:lnSpc>
            </a:pPr>
          </a:p>
          <a:p>
            <a:pPr algn="l">
              <a:lnSpc>
                <a:spcPts val="4619"/>
              </a:lnSpc>
            </a:pPr>
            <a:r>
              <a:rPr lang="en-US" sz="3299">
                <a:solidFill>
                  <a:srgbClr val="000000"/>
                </a:solidFill>
                <a:latin typeface="Dynapuff Condensed"/>
                <a:ea typeface="Dynapuff Condensed"/>
                <a:cs typeface="Dynapuff Condensed"/>
                <a:sym typeface="Dynapuff Condensed"/>
              </a:rPr>
              <a:t>8.Strong Negative Phrase</a:t>
            </a:r>
          </a:p>
          <a:p>
            <a:pPr algn="l">
              <a:lnSpc>
                <a:spcPts val="4619"/>
              </a:lnSpc>
            </a:pPr>
            <a:r>
              <a:rPr lang="en-US" sz="3299">
                <a:solidFill>
                  <a:srgbClr val="000000"/>
                </a:solidFill>
                <a:latin typeface="Dynapuff Condensed"/>
                <a:ea typeface="Dynapuff Condensed"/>
                <a:cs typeface="Dynapuff Condensed"/>
                <a:sym typeface="Dynapuff Condensed"/>
              </a:rPr>
              <a:t> </a:t>
            </a:r>
            <a:r>
              <a:rPr lang="en-US" sz="3299" b="true">
                <a:solidFill>
                  <a:srgbClr val="000000"/>
                </a:solidFill>
                <a:latin typeface="Dynapuff Condensed Bold"/>
                <a:ea typeface="Dynapuff Condensed Bold"/>
                <a:cs typeface="Dynapuff Condensed Bold"/>
                <a:sym typeface="Dynapuff Condensed Bold"/>
              </a:rPr>
              <a:t>The model recognizes specific phrases as strongly negative.</a:t>
            </a:r>
          </a:p>
          <a:p>
            <a:pPr algn="l">
              <a:lnSpc>
                <a:spcPts val="4619"/>
              </a:lnSpc>
            </a:pPr>
            <a:r>
              <a:rPr lang="en-US" sz="3299">
                <a:solidFill>
                  <a:srgbClr val="000000"/>
                </a:solidFill>
                <a:latin typeface="Dynapuff Condensed"/>
                <a:ea typeface="Dynapuff Condensed"/>
                <a:cs typeface="Dynapuff Condensed"/>
                <a:sym typeface="Dynapuff Condensed"/>
              </a:rPr>
              <a:t> Example: tidak ada tanggapan →</a:t>
            </a:r>
          </a:p>
          <a:p>
            <a:pPr algn="l">
              <a:lnSpc>
                <a:spcPts val="4619"/>
              </a:lnSpc>
            </a:pPr>
            <a:r>
              <a:rPr lang="en-US" sz="3299">
                <a:solidFill>
                  <a:srgbClr val="000000"/>
                </a:solidFill>
                <a:latin typeface="Dynapuff Condensed"/>
                <a:ea typeface="Dynapuff Condensed"/>
                <a:cs typeface="Dynapuff Condensed"/>
                <a:sym typeface="Dynapuff Condensed"/>
              </a:rPr>
              <a:t> score = sentiment(tidak ada tanggapan) = -1 → Negative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835269"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36468" y="690563"/>
            <a:ext cx="5015065" cy="714375"/>
          </a:xfrm>
          <a:prstGeom prst="rect">
            <a:avLst/>
          </a:prstGeom>
        </p:spPr>
        <p:txBody>
          <a:bodyPr anchor="t" rtlCol="false" tIns="0" lIns="0" bIns="0" rIns="0">
            <a:spAutoFit/>
          </a:bodyPr>
          <a:lstStyle/>
          <a:p>
            <a:pPr algn="ctr" marL="0" indent="0" lvl="0">
              <a:lnSpc>
                <a:spcPts val="5549"/>
              </a:lnSpc>
            </a:pPr>
            <a:r>
              <a:rPr lang="en-US" sz="4999">
                <a:solidFill>
                  <a:srgbClr val="000000"/>
                </a:solidFill>
                <a:latin typeface="Dynapuff Condensed"/>
                <a:ea typeface="Dynapuff Condensed"/>
                <a:cs typeface="Dynapuff Condensed"/>
                <a:sym typeface="Dynapuff Condensed"/>
              </a:rPr>
              <a:t>RULE EXPLANATION</a:t>
            </a:r>
          </a:p>
        </p:txBody>
      </p:sp>
      <p:sp>
        <p:nvSpPr>
          <p:cNvPr name="TextBox 5" id="5"/>
          <p:cNvSpPr txBox="true"/>
          <p:nvPr/>
        </p:nvSpPr>
        <p:spPr>
          <a:xfrm rot="0">
            <a:off x="706184" y="1598564"/>
            <a:ext cx="16875631" cy="8151496"/>
          </a:xfrm>
          <a:prstGeom prst="rect">
            <a:avLst/>
          </a:prstGeom>
        </p:spPr>
        <p:txBody>
          <a:bodyPr anchor="t" rtlCol="false" tIns="0" lIns="0" bIns="0" rIns="0">
            <a:spAutoFit/>
          </a:bodyPr>
          <a:lstStyle/>
          <a:p>
            <a:pPr algn="l">
              <a:lnSpc>
                <a:spcPts val="5879"/>
              </a:lnSpc>
            </a:pPr>
            <a:r>
              <a:rPr lang="en-US" sz="4199">
                <a:solidFill>
                  <a:srgbClr val="000000"/>
                </a:solidFill>
                <a:latin typeface="Dynapuff Condensed"/>
                <a:ea typeface="Dynapuff Condensed"/>
                <a:cs typeface="Dynapuff Condensed"/>
                <a:sym typeface="Dynapuff Condensed"/>
              </a:rPr>
              <a:t>9.Question Rule</a:t>
            </a:r>
          </a:p>
          <a:p>
            <a:pPr algn="l">
              <a:lnSpc>
                <a:spcPts val="5879"/>
              </a:lnSpc>
            </a:pPr>
            <a:r>
              <a:rPr lang="en-US" sz="4199">
                <a:solidFill>
                  <a:srgbClr val="000000"/>
                </a:solidFill>
                <a:latin typeface="Dynapuff Condensed"/>
                <a:ea typeface="Dynapuff Condensed"/>
                <a:cs typeface="Dynapuff Condensed"/>
                <a:sym typeface="Dynapuff Condensed"/>
              </a:rPr>
              <a:t> </a:t>
            </a:r>
            <a:r>
              <a:rPr lang="en-US" sz="4199" b="true">
                <a:solidFill>
                  <a:srgbClr val="000000"/>
                </a:solidFill>
                <a:latin typeface="Dynapuff Condensed Bold"/>
                <a:ea typeface="Dynapuff Condensed Bold"/>
                <a:cs typeface="Dynapuff Condensed Bold"/>
                <a:sym typeface="Dynapuff Condensed Bold"/>
              </a:rPr>
              <a:t>The </a:t>
            </a:r>
            <a:r>
              <a:rPr lang="en-US" sz="4199" b="true">
                <a:solidFill>
                  <a:srgbClr val="000000"/>
                </a:solidFill>
                <a:latin typeface="Dynapuff Condensed Bold"/>
                <a:ea typeface="Dynapuff Condensed Bold"/>
                <a:cs typeface="Dynapuff Condensed Bold"/>
                <a:sym typeface="Dynapuff Condensed Bold"/>
              </a:rPr>
              <a:t>system assigns a neutral sentiment to questions without strong negative signals.</a:t>
            </a:r>
          </a:p>
          <a:p>
            <a:pPr algn="l">
              <a:lnSpc>
                <a:spcPts val="5879"/>
              </a:lnSpc>
            </a:pPr>
            <a:r>
              <a:rPr lang="en-US" sz="4199">
                <a:solidFill>
                  <a:srgbClr val="000000"/>
                </a:solidFill>
                <a:latin typeface="Dynapuff Condensed"/>
                <a:ea typeface="Dynapuff Condensed"/>
                <a:cs typeface="Dynapuff Condensed"/>
                <a:sym typeface="Dynapuff Condensed"/>
              </a:rPr>
              <a:t> Example: pdam naik selalu? →</a:t>
            </a:r>
          </a:p>
          <a:p>
            <a:pPr algn="l">
              <a:lnSpc>
                <a:spcPts val="5879"/>
              </a:lnSpc>
            </a:pPr>
            <a:r>
              <a:rPr lang="en-US" sz="4199">
                <a:solidFill>
                  <a:srgbClr val="000000"/>
                </a:solidFill>
                <a:latin typeface="Dynapuff Condensed"/>
                <a:ea typeface="Dynapuff Condensed"/>
                <a:cs typeface="Dynapuff Condensed"/>
                <a:sym typeface="Dynapuff Condensed"/>
              </a:rPr>
              <a:t> score = 0 → Neutral</a:t>
            </a:r>
          </a:p>
          <a:p>
            <a:pPr algn="l">
              <a:lnSpc>
                <a:spcPts val="5879"/>
              </a:lnSpc>
            </a:pPr>
          </a:p>
          <a:p>
            <a:pPr algn="l">
              <a:lnSpc>
                <a:spcPts val="5879"/>
              </a:lnSpc>
            </a:pPr>
            <a:r>
              <a:rPr lang="en-US" sz="4199">
                <a:solidFill>
                  <a:srgbClr val="000000"/>
                </a:solidFill>
                <a:latin typeface="Dynapuff Condensed"/>
                <a:ea typeface="Dynapuff Condensed"/>
                <a:cs typeface="Dynapuff Condensed"/>
                <a:sym typeface="Dynapuff Condensed"/>
              </a:rPr>
              <a:t>10.Complaint Context Penalty</a:t>
            </a:r>
          </a:p>
          <a:p>
            <a:pPr algn="l">
              <a:lnSpc>
                <a:spcPts val="5879"/>
              </a:lnSpc>
            </a:pPr>
            <a:r>
              <a:rPr lang="en-US" sz="4199">
                <a:solidFill>
                  <a:srgbClr val="000000"/>
                </a:solidFill>
                <a:latin typeface="Dynapuff Condensed"/>
                <a:ea typeface="Dynapuff Condensed"/>
                <a:cs typeface="Dynapuff Condensed"/>
                <a:sym typeface="Dynapuff Condensed"/>
              </a:rPr>
              <a:t> </a:t>
            </a:r>
            <a:r>
              <a:rPr lang="en-US" sz="4199" b="true">
                <a:solidFill>
                  <a:srgbClr val="000000"/>
                </a:solidFill>
                <a:latin typeface="Dynapuff Condensed Bold"/>
                <a:ea typeface="Dynapuff Condensed Bold"/>
                <a:cs typeface="Dynapuff Condensed Bold"/>
                <a:sym typeface="Dynapuff Condensed Bold"/>
              </a:rPr>
              <a:t>The system applies a penalty when detecting complaint-related context.</a:t>
            </a:r>
          </a:p>
          <a:p>
            <a:pPr algn="l">
              <a:lnSpc>
                <a:spcPts val="5879"/>
              </a:lnSpc>
            </a:pPr>
            <a:r>
              <a:rPr lang="en-US" sz="4199">
                <a:solidFill>
                  <a:srgbClr val="000000"/>
                </a:solidFill>
                <a:latin typeface="Dynapuff Condensed"/>
                <a:ea typeface="Dynapuff Condensed"/>
                <a:cs typeface="Dynapuff Condensed"/>
                <a:sym typeface="Dynapuff Condensed"/>
              </a:rPr>
              <a:t> Example: aliran air tidak lancar → complaint penalty = -1, air = -1, tidak lancar = -1 →</a:t>
            </a:r>
          </a:p>
          <a:p>
            <a:pPr algn="l">
              <a:lnSpc>
                <a:spcPts val="5879"/>
              </a:lnSpc>
            </a:pPr>
            <a:r>
              <a:rPr lang="en-US" sz="4199">
                <a:solidFill>
                  <a:srgbClr val="000000"/>
                </a:solidFill>
                <a:latin typeface="Dynapuff Condensed"/>
                <a:ea typeface="Dynapuff Condensed"/>
                <a:cs typeface="Dynapuff Condensed"/>
                <a:sym typeface="Dynapuff Condensed"/>
              </a:rPr>
              <a:t> score = -1 + (-1) + (-1) = -3 → Negative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835269"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020881" y="690563"/>
            <a:ext cx="8246238" cy="714375"/>
          </a:xfrm>
          <a:prstGeom prst="rect">
            <a:avLst/>
          </a:prstGeom>
        </p:spPr>
        <p:txBody>
          <a:bodyPr anchor="t" rtlCol="false" tIns="0" lIns="0" bIns="0" rIns="0">
            <a:spAutoFit/>
          </a:bodyPr>
          <a:lstStyle/>
          <a:p>
            <a:pPr algn="ctr" marL="0" indent="0" lvl="0">
              <a:lnSpc>
                <a:spcPts val="5549"/>
              </a:lnSpc>
            </a:pPr>
            <a:r>
              <a:rPr lang="en-US" sz="4999">
                <a:solidFill>
                  <a:srgbClr val="000000"/>
                </a:solidFill>
                <a:latin typeface="Dynapuff Condensed"/>
                <a:ea typeface="Dynapuff Condensed"/>
                <a:cs typeface="Dynapuff Condensed"/>
                <a:sym typeface="Dynapuff Condensed"/>
              </a:rPr>
              <a:t>SENTIMENT ANALYSIS EVALUATION</a:t>
            </a:r>
          </a:p>
        </p:txBody>
      </p:sp>
      <p:sp>
        <p:nvSpPr>
          <p:cNvPr name="TextBox 5" id="5"/>
          <p:cNvSpPr txBox="true"/>
          <p:nvPr/>
        </p:nvSpPr>
        <p:spPr>
          <a:xfrm rot="0">
            <a:off x="706184" y="3180837"/>
            <a:ext cx="16875631" cy="4908551"/>
          </a:xfrm>
          <a:prstGeom prst="rect">
            <a:avLst/>
          </a:prstGeom>
        </p:spPr>
        <p:txBody>
          <a:bodyPr anchor="t" rtlCol="false" tIns="0" lIns="0" bIns="0" rIns="0">
            <a:spAutoFit/>
          </a:bodyPr>
          <a:lstStyle/>
          <a:p>
            <a:pPr algn="l">
              <a:lnSpc>
                <a:spcPts val="5599"/>
              </a:lnSpc>
            </a:pPr>
            <a:r>
              <a:rPr lang="en-US" sz="3999">
                <a:solidFill>
                  <a:srgbClr val="000000"/>
                </a:solidFill>
                <a:latin typeface="Dynapuff Condensed"/>
                <a:ea typeface="Dynapuff Condensed"/>
                <a:cs typeface="Dynapuff Condensed"/>
                <a:sym typeface="Dynapuff Condensed"/>
              </a:rPr>
              <a:t>The Rule-Based S</a:t>
            </a:r>
            <a:r>
              <a:rPr lang="en-US" sz="3999">
                <a:solidFill>
                  <a:srgbClr val="000000"/>
                </a:solidFill>
                <a:latin typeface="Dynapuff Condensed"/>
                <a:ea typeface="Dynapuff Condensed"/>
                <a:cs typeface="Dynapuff Condensed"/>
                <a:sym typeface="Dynapuff Condensed"/>
              </a:rPr>
              <a:t>entiment Analysis model was evaluated on 1,670 comment segments, consisting of 827 Negative, 568 Neutral, and 275 Positive instances. The model achieved an accuracy of 82.59%, with a precision of 84.11%, recall of 82.59%, and F1-score of 82.69%, indicating good performance in identifying sentiment polarity. Overall, the proposed rule-based approach demonstrates effective sentiment classification performance and provides transparent, interpretable decision-making through predefined linguistic rules and sentiment dictionaries.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TextBox 2" id="2"/>
          <p:cNvSpPr txBox="true"/>
          <p:nvPr/>
        </p:nvSpPr>
        <p:spPr>
          <a:xfrm rot="0">
            <a:off x="5468828" y="523853"/>
            <a:ext cx="7350343" cy="1000169"/>
          </a:xfrm>
          <a:prstGeom prst="rect">
            <a:avLst/>
          </a:prstGeom>
        </p:spPr>
        <p:txBody>
          <a:bodyPr anchor="t" rtlCol="false" tIns="0" lIns="0" bIns="0" rIns="0">
            <a:spAutoFit/>
          </a:bodyPr>
          <a:lstStyle/>
          <a:p>
            <a:pPr algn="ctr" marL="0" indent="0" lvl="0">
              <a:lnSpc>
                <a:spcPts val="7800"/>
              </a:lnSpc>
              <a:spcBef>
                <a:spcPct val="0"/>
              </a:spcBef>
            </a:pPr>
            <a:r>
              <a:rPr lang="en-US" sz="6500">
                <a:solidFill>
                  <a:srgbClr val="000000"/>
                </a:solidFill>
                <a:latin typeface="Dynapuff Condensed"/>
                <a:ea typeface="Dynapuff Condensed"/>
                <a:cs typeface="Dynapuff Condensed"/>
                <a:sym typeface="Dynapuff Condensed"/>
              </a:rPr>
              <a:t>CONCLUSION</a:t>
            </a:r>
          </a:p>
        </p:txBody>
      </p:sp>
      <p:sp>
        <p:nvSpPr>
          <p:cNvPr name="Freeform 3" id="3"/>
          <p:cNvSpPr/>
          <p:nvPr/>
        </p:nvSpPr>
        <p:spPr>
          <a:xfrm flipH="true" flipV="true" rot="0">
            <a:off x="13194542" y="-1184031"/>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044665" y="-676296"/>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022854" y="7438452"/>
            <a:ext cx="6103108" cy="4114800"/>
          </a:xfrm>
          <a:custGeom>
            <a:avLst/>
            <a:gdLst/>
            <a:ahLst/>
            <a:cxnLst/>
            <a:rect r="r" b="b" t="t" l="l"/>
            <a:pathLst>
              <a:path h="4114800" w="6103108">
                <a:moveTo>
                  <a:pt x="0" y="0"/>
                </a:moveTo>
                <a:lnTo>
                  <a:pt x="6103108" y="0"/>
                </a:lnTo>
                <a:lnTo>
                  <a:pt x="610310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6707530"/>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180970" y="1762396"/>
            <a:ext cx="14065126" cy="7495904"/>
          </a:xfrm>
          <a:prstGeom prst="rect">
            <a:avLst/>
          </a:prstGeom>
        </p:spPr>
        <p:txBody>
          <a:bodyPr anchor="t" rtlCol="false" tIns="0" lIns="0" bIns="0" rIns="0">
            <a:spAutoFit/>
          </a:bodyPr>
          <a:lstStyle/>
          <a:p>
            <a:pPr algn="just">
              <a:lnSpc>
                <a:spcPts val="4959"/>
              </a:lnSpc>
            </a:pPr>
            <a:r>
              <a:rPr lang="en-US" sz="3542">
                <a:solidFill>
                  <a:srgbClr val="000000"/>
                </a:solidFill>
                <a:latin typeface="Dynapuff SemiCondensed"/>
                <a:ea typeface="Dynapuff SemiCondensed"/>
                <a:cs typeface="Dynapuff SemiCondensed"/>
                <a:sym typeface="Dynapuff SemiCondensed"/>
              </a:rPr>
              <a:t>This</a:t>
            </a:r>
            <a:r>
              <a:rPr lang="en-US" sz="3542">
                <a:solidFill>
                  <a:srgbClr val="000000"/>
                </a:solidFill>
                <a:latin typeface="Dynapuff SemiCondensed"/>
                <a:ea typeface="Dynapuff SemiCondensed"/>
                <a:cs typeface="Dynapuff SemiCondensed"/>
                <a:sym typeface="Dynapuff SemiCondensed"/>
              </a:rPr>
              <a:t> study successfully developed an Aspect-Based Sentiment Analysis system for PDAM Surya Sembada customer comments using Cosine Similarity for aspect classification and a Rule-Based approach for sentiment analysis. The best aspect classification performance was achieved using TF-IDF N-Gram (1,3), obtaining an accuracy of 74.31% on segmented test data and 93.31% on the full dataset. Meanwhile, the sentiment analysis model achieved an accuracy of 82.59% and an F1-score of 82.69%, demonstrating its effectiveness in identifying customer sentiment. The developed dashboard further enables automatic processing, monitoring, and visualization of customer feedback, helping PDAM better understand service issues and customer perceptions.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TextBox 2" id="2"/>
          <p:cNvSpPr txBox="true"/>
          <p:nvPr/>
        </p:nvSpPr>
        <p:spPr>
          <a:xfrm rot="0">
            <a:off x="5073816" y="3975664"/>
            <a:ext cx="8688208" cy="3601917"/>
          </a:xfrm>
          <a:prstGeom prst="rect">
            <a:avLst/>
          </a:prstGeom>
        </p:spPr>
        <p:txBody>
          <a:bodyPr anchor="t" rtlCol="false" tIns="0" lIns="0" bIns="0" rIns="0">
            <a:spAutoFit/>
          </a:bodyPr>
          <a:lstStyle/>
          <a:p>
            <a:pPr algn="ctr" marL="0" indent="0" lvl="0">
              <a:lnSpc>
                <a:spcPts val="13373"/>
              </a:lnSpc>
            </a:pPr>
            <a:r>
              <a:rPr lang="en-US" sz="16716" spc="501">
                <a:solidFill>
                  <a:srgbClr val="000000"/>
                </a:solidFill>
                <a:latin typeface="Dynapuff Condensed"/>
                <a:ea typeface="Dynapuff Condensed"/>
                <a:cs typeface="Dynapuff Condensed"/>
                <a:sym typeface="Dynapuff Condensed"/>
              </a:rPr>
              <a:t>THANK YOU</a:t>
            </a:r>
          </a:p>
        </p:txBody>
      </p:sp>
      <p:sp>
        <p:nvSpPr>
          <p:cNvPr name="Freeform 3" id="3"/>
          <p:cNvSpPr/>
          <p:nvPr/>
        </p:nvSpPr>
        <p:spPr>
          <a:xfrm flipH="false" flipV="false" rot="0">
            <a:off x="-664261" y="6677503"/>
            <a:ext cx="6103108" cy="4114800"/>
          </a:xfrm>
          <a:custGeom>
            <a:avLst/>
            <a:gdLst/>
            <a:ahLst/>
            <a:cxnLst/>
            <a:rect r="r" b="b" t="t" l="l"/>
            <a:pathLst>
              <a:path h="4114800" w="6103108">
                <a:moveTo>
                  <a:pt x="0" y="0"/>
                </a:moveTo>
                <a:lnTo>
                  <a:pt x="6103109" y="0"/>
                </a:lnTo>
                <a:lnTo>
                  <a:pt x="610310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2184892" y="-10287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254823" y="-4550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72605" y="6043612"/>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0" y="0"/>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false" rot="0">
            <a:off x="14173200" y="6287097"/>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DAHM053n3xQ</dc:identifier>
  <dcterms:modified xsi:type="dcterms:W3CDTF">2011-08-01T06:04:30Z</dcterms:modified>
  <cp:revision>1</cp:revision>
  <dc:title>PPT Sidang PA 2</dc:title>
</cp:coreProperties>
</file>